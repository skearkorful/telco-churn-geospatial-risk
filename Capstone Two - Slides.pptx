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7"/>
  </p:notesMasterIdLst>
  <p:sldIdLst>
    <p:sldId id="261" r:id="rId2"/>
    <p:sldId id="286" r:id="rId3"/>
    <p:sldId id="267" r:id="rId4"/>
    <p:sldId id="258" r:id="rId5"/>
    <p:sldId id="283" r:id="rId6"/>
    <p:sldId id="284" r:id="rId7"/>
    <p:sldId id="288" r:id="rId8"/>
    <p:sldId id="290" r:id="rId9"/>
    <p:sldId id="279" r:id="rId10"/>
    <p:sldId id="280" r:id="rId11"/>
    <p:sldId id="287" r:id="rId12"/>
    <p:sldId id="272" r:id="rId13"/>
    <p:sldId id="273" r:id="rId14"/>
    <p:sldId id="289" r:id="rId15"/>
    <p:sldId id="266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5C3001-CED0-AE3C-92F4-D5E6D854B1D6}" v="225" dt="2026-06-01T21:28:48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KORFUL S. KOBINA EBO" userId="adda195f3cc4306c" providerId="Windows Live" clId="Web-{7D5C3001-CED0-AE3C-92F4-D5E6D854B1D6}"/>
    <pc:docChg chg="modSld">
      <pc:chgData name="ARKORFUL S. KOBINA EBO" userId="adda195f3cc4306c" providerId="Windows Live" clId="Web-{7D5C3001-CED0-AE3C-92F4-D5E6D854B1D6}" dt="2026-06-01T21:28:48.903" v="232" actId="14100"/>
      <pc:docMkLst>
        <pc:docMk/>
      </pc:docMkLst>
      <pc:sldChg chg="addSp delSp modSp">
        <pc:chgData name="ARKORFUL S. KOBINA EBO" userId="adda195f3cc4306c" providerId="Windows Live" clId="Web-{7D5C3001-CED0-AE3C-92F4-D5E6D854B1D6}" dt="2026-06-01T21:11:30.304" v="124" actId="14100"/>
        <pc:sldMkLst>
          <pc:docMk/>
          <pc:sldMk cId="3534857374" sldId="258"/>
        </pc:sldMkLst>
        <pc:spChg chg="mod ord">
          <ac:chgData name="ARKORFUL S. KOBINA EBO" userId="adda195f3cc4306c" providerId="Windows Live" clId="Web-{7D5C3001-CED0-AE3C-92F4-D5E6D854B1D6}" dt="2026-06-01T21:10:16.085" v="115" actId="14100"/>
          <ac:spMkLst>
            <pc:docMk/>
            <pc:sldMk cId="3534857374" sldId="258"/>
            <ac:spMk id="2" creationId="{B40F314E-1B67-F2F4-A9FB-64DD1FBAA1D8}"/>
          </ac:spMkLst>
        </pc:spChg>
        <pc:spChg chg="mod">
          <ac:chgData name="ARKORFUL S. KOBINA EBO" userId="adda195f3cc4306c" providerId="Windows Live" clId="Web-{7D5C3001-CED0-AE3C-92F4-D5E6D854B1D6}" dt="2026-06-01T21:11:30.304" v="124" actId="14100"/>
          <ac:spMkLst>
            <pc:docMk/>
            <pc:sldMk cId="3534857374" sldId="258"/>
            <ac:spMk id="3" creationId="{F0C9DE8D-CEB9-6B3E-6FE0-37B26D96A499}"/>
          </ac:spMkLst>
        </pc:spChg>
        <pc:spChg chg="add del">
          <ac:chgData name="ARKORFUL S. KOBINA EBO" userId="adda195f3cc4306c" providerId="Windows Live" clId="Web-{7D5C3001-CED0-AE3C-92F4-D5E6D854B1D6}" dt="2026-06-01T21:00:36.785" v="52"/>
          <ac:spMkLst>
            <pc:docMk/>
            <pc:sldMk cId="3534857374" sldId="258"/>
            <ac:spMk id="136" creationId="{68EE4C72-F2C4-48C0-A42A-6D8069047A8D}"/>
          </ac:spMkLst>
        </pc:spChg>
        <pc:spChg chg="add del">
          <ac:chgData name="ARKORFUL S. KOBINA EBO" userId="adda195f3cc4306c" providerId="Windows Live" clId="Web-{7D5C3001-CED0-AE3C-92F4-D5E6D854B1D6}" dt="2026-06-01T21:03:47.614" v="80"/>
          <ac:spMkLst>
            <pc:docMk/>
            <pc:sldMk cId="3534857374" sldId="258"/>
            <ac:spMk id="141" creationId="{462665EA-AABF-4427-A720-538234E60CD7}"/>
          </ac:spMkLst>
        </pc:spChg>
        <pc:spChg chg="add del">
          <ac:chgData name="ARKORFUL S. KOBINA EBO" userId="adda195f3cc4306c" providerId="Windows Live" clId="Web-{7D5C3001-CED0-AE3C-92F4-D5E6D854B1D6}" dt="2026-06-01T21:03:21.692" v="75"/>
          <ac:spMkLst>
            <pc:docMk/>
            <pc:sldMk cId="3534857374" sldId="258"/>
            <ac:spMk id="146" creationId="{68EE4C72-F2C4-48C0-A42A-6D8069047A8D}"/>
          </ac:spMkLst>
        </pc:spChg>
        <pc:spChg chg="add del">
          <ac:chgData name="ARKORFUL S. KOBINA EBO" userId="adda195f3cc4306c" providerId="Windows Live" clId="Web-{7D5C3001-CED0-AE3C-92F4-D5E6D854B1D6}" dt="2026-06-01T21:03:25.411" v="77"/>
          <ac:spMkLst>
            <pc:docMk/>
            <pc:sldMk cId="3534857374" sldId="258"/>
            <ac:spMk id="148" creationId="{054F7F79-F447-429D-8CB8-7459C972E489}"/>
          </ac:spMkLst>
        </pc:spChg>
        <pc:spChg chg="add del">
          <ac:chgData name="ARKORFUL S. KOBINA EBO" userId="adda195f3cc4306c" providerId="Windows Live" clId="Web-{7D5C3001-CED0-AE3C-92F4-D5E6D854B1D6}" dt="2026-06-01T21:03:25.411" v="77"/>
          <ac:spMkLst>
            <pc:docMk/>
            <pc:sldMk cId="3534857374" sldId="258"/>
            <ac:spMk id="149" creationId="{637F63F2-649A-41EF-BE19-652586482CF7}"/>
          </ac:spMkLst>
        </pc:spChg>
        <pc:spChg chg="add del">
          <ac:chgData name="ARKORFUL S. KOBINA EBO" userId="adda195f3cc4306c" providerId="Windows Live" clId="Web-{7D5C3001-CED0-AE3C-92F4-D5E6D854B1D6}" dt="2026-06-01T21:03:25.411" v="77"/>
          <ac:spMkLst>
            <pc:docMk/>
            <pc:sldMk cId="3534857374" sldId="258"/>
            <ac:spMk id="154" creationId="{1D6D9E94-9FEE-4E26-AE7D-4E3E03A0650F}"/>
          </ac:spMkLst>
        </pc:spChg>
        <pc:spChg chg="add del">
          <ac:chgData name="ARKORFUL S. KOBINA EBO" userId="adda195f3cc4306c" providerId="Windows Live" clId="Web-{7D5C3001-CED0-AE3C-92F4-D5E6D854B1D6}" dt="2026-06-01T21:03:25.411" v="77"/>
          <ac:spMkLst>
            <pc:docMk/>
            <pc:sldMk cId="3534857374" sldId="258"/>
            <ac:spMk id="156" creationId="{0CC2471B-F98C-4D94-8777-C8D8912A961C}"/>
          </ac:spMkLst>
        </pc:spChg>
        <pc:spChg chg="add del">
          <ac:chgData name="ARKORFUL S. KOBINA EBO" userId="adda195f3cc4306c" providerId="Windows Live" clId="Web-{7D5C3001-CED0-AE3C-92F4-D5E6D854B1D6}" dt="2026-06-01T21:03:25.411" v="77"/>
          <ac:spMkLst>
            <pc:docMk/>
            <pc:sldMk cId="3534857374" sldId="258"/>
            <ac:spMk id="158" creationId="{E943A1EA-7FA0-4E82-9E41-7778E1659526}"/>
          </ac:spMkLst>
        </pc:spChg>
        <pc:spChg chg="add del">
          <ac:chgData name="ARKORFUL S. KOBINA EBO" userId="adda195f3cc4306c" providerId="Windows Live" clId="Web-{7D5C3001-CED0-AE3C-92F4-D5E6D854B1D6}" dt="2026-06-01T21:03:25.411" v="77"/>
          <ac:spMkLst>
            <pc:docMk/>
            <pc:sldMk cId="3534857374" sldId="258"/>
            <ac:spMk id="160" creationId="{AFAAF75F-1732-434D-983C-04B19185B321}"/>
          </ac:spMkLst>
        </pc:spChg>
        <pc:spChg chg="add del">
          <ac:chgData name="ARKORFUL S. KOBINA EBO" userId="adda195f3cc4306c" providerId="Windows Live" clId="Web-{7D5C3001-CED0-AE3C-92F4-D5E6D854B1D6}" dt="2026-06-01T21:03:25.411" v="77"/>
          <ac:spMkLst>
            <pc:docMk/>
            <pc:sldMk cId="3534857374" sldId="258"/>
            <ac:spMk id="162" creationId="{B5721446-F8B2-46D7-B9FA-197016D0D534}"/>
          </ac:spMkLst>
        </pc:spChg>
        <pc:spChg chg="add del">
          <ac:chgData name="ARKORFUL S. KOBINA EBO" userId="adda195f3cc4306c" providerId="Windows Live" clId="Web-{7D5C3001-CED0-AE3C-92F4-D5E6D854B1D6}" dt="2026-06-01T21:03:25.411" v="77"/>
          <ac:spMkLst>
            <pc:docMk/>
            <pc:sldMk cId="3534857374" sldId="258"/>
            <ac:spMk id="164" creationId="{AF09704D-A239-4559-A447-A072A7E86816}"/>
          </ac:spMkLst>
        </pc:spChg>
        <pc:spChg chg="add del">
          <ac:chgData name="ARKORFUL S. KOBINA EBO" userId="adda195f3cc4306c" providerId="Windows Live" clId="Web-{7D5C3001-CED0-AE3C-92F4-D5E6D854B1D6}" dt="2026-06-01T21:03:47.599" v="79"/>
          <ac:spMkLst>
            <pc:docMk/>
            <pc:sldMk cId="3534857374" sldId="258"/>
            <ac:spMk id="168" creationId="{D91A5D46-F2E3-4974-A895-A2DEEBEBACF3}"/>
          </ac:spMkLst>
        </pc:spChg>
        <pc:spChg chg="add del">
          <ac:chgData name="ARKORFUL S. KOBINA EBO" userId="adda195f3cc4306c" providerId="Windows Live" clId="Web-{7D5C3001-CED0-AE3C-92F4-D5E6D854B1D6}" dt="2026-06-01T21:03:47.599" v="79"/>
          <ac:spMkLst>
            <pc:docMk/>
            <pc:sldMk cId="3534857374" sldId="258"/>
            <ac:spMk id="169" creationId="{1894666F-0CB6-4014-ABCF-426E5EDAEAB7}"/>
          </ac:spMkLst>
        </pc:spChg>
        <pc:spChg chg="add del">
          <ac:chgData name="ARKORFUL S. KOBINA EBO" userId="adda195f3cc4306c" providerId="Windows Live" clId="Web-{7D5C3001-CED0-AE3C-92F4-D5E6D854B1D6}" dt="2026-06-01T21:03:47.599" v="79"/>
          <ac:spMkLst>
            <pc:docMk/>
            <pc:sldMk cId="3534857374" sldId="258"/>
            <ac:spMk id="172" creationId="{BFBC228F-2DFC-45B5-975F-21E263F0972A}"/>
          </ac:spMkLst>
        </pc:spChg>
        <pc:spChg chg="add del">
          <ac:chgData name="ARKORFUL S. KOBINA EBO" userId="adda195f3cc4306c" providerId="Windows Live" clId="Web-{7D5C3001-CED0-AE3C-92F4-D5E6D854B1D6}" dt="2026-06-01T21:03:47.599" v="79"/>
          <ac:spMkLst>
            <pc:docMk/>
            <pc:sldMk cId="3534857374" sldId="258"/>
            <ac:spMk id="173" creationId="{D8E34D7A-30E3-491D-99CA-C2336EF32234}"/>
          </ac:spMkLst>
        </pc:spChg>
        <pc:spChg chg="add del">
          <ac:chgData name="ARKORFUL S. KOBINA EBO" userId="adda195f3cc4306c" providerId="Windows Live" clId="Web-{7D5C3001-CED0-AE3C-92F4-D5E6D854B1D6}" dt="2026-06-01T21:03:47.599" v="79"/>
          <ac:spMkLst>
            <pc:docMk/>
            <pc:sldMk cId="3534857374" sldId="258"/>
            <ac:spMk id="175" creationId="{3FC69E52-5CCC-4C61-9326-4B704BD33CEC}"/>
          </ac:spMkLst>
        </pc:spChg>
        <pc:spChg chg="add del">
          <ac:chgData name="ARKORFUL S. KOBINA EBO" userId="adda195f3cc4306c" providerId="Windows Live" clId="Web-{7D5C3001-CED0-AE3C-92F4-D5E6D854B1D6}" dt="2026-06-01T21:03:47.599" v="79"/>
          <ac:spMkLst>
            <pc:docMk/>
            <pc:sldMk cId="3534857374" sldId="258"/>
            <ac:spMk id="176" creationId="{FF613078-C954-4AAC-B2AC-AF3997D58660}"/>
          </ac:spMkLst>
        </pc:spChg>
        <pc:spChg chg="add del">
          <ac:chgData name="ARKORFUL S. KOBINA EBO" userId="adda195f3cc4306c" providerId="Windows Live" clId="Web-{7D5C3001-CED0-AE3C-92F4-D5E6D854B1D6}" dt="2026-06-01T21:03:47.599" v="79"/>
          <ac:spMkLst>
            <pc:docMk/>
            <pc:sldMk cId="3534857374" sldId="258"/>
            <ac:spMk id="177" creationId="{29A158D4-8753-45B9-939E-0926960B252E}"/>
          </ac:spMkLst>
        </pc:spChg>
        <pc:spChg chg="add del">
          <ac:chgData name="ARKORFUL S. KOBINA EBO" userId="adda195f3cc4306c" providerId="Windows Live" clId="Web-{7D5C3001-CED0-AE3C-92F4-D5E6D854B1D6}" dt="2026-06-01T21:03:47.599" v="79"/>
          <ac:spMkLst>
            <pc:docMk/>
            <pc:sldMk cId="3534857374" sldId="258"/>
            <ac:spMk id="178" creationId="{34FD1545-5F8E-416B-9805-DD6D2C3D32B7}"/>
          </ac:spMkLst>
        </pc:spChg>
        <pc:spChg chg="add">
          <ac:chgData name="ARKORFUL S. KOBINA EBO" userId="adda195f3cc4306c" providerId="Windows Live" clId="Web-{7D5C3001-CED0-AE3C-92F4-D5E6D854B1D6}" dt="2026-06-01T21:03:47.614" v="80"/>
          <ac:spMkLst>
            <pc:docMk/>
            <pc:sldMk cId="3534857374" sldId="258"/>
            <ac:spMk id="180" creationId="{68EE4C72-F2C4-48C0-A42A-6D8069047A8D}"/>
          </ac:spMkLst>
        </pc:spChg>
        <pc:picChg chg="mod">
          <ac:chgData name="ARKORFUL S. KOBINA EBO" userId="adda195f3cc4306c" providerId="Windows Live" clId="Web-{7D5C3001-CED0-AE3C-92F4-D5E6D854B1D6}" dt="2026-06-01T21:03:47.614" v="80"/>
          <ac:picMkLst>
            <pc:docMk/>
            <pc:sldMk cId="3534857374" sldId="258"/>
            <ac:picMk id="23" creationId="{EC1475FA-4174-A43C-E498-6F78713333D2}"/>
          </ac:picMkLst>
        </pc:picChg>
      </pc:sldChg>
      <pc:sldChg chg="addSp delSp modSp">
        <pc:chgData name="ARKORFUL S. KOBINA EBO" userId="adda195f3cc4306c" providerId="Windows Live" clId="Web-{7D5C3001-CED0-AE3C-92F4-D5E6D854B1D6}" dt="2026-06-01T21:09:33.710" v="112" actId="20577"/>
        <pc:sldMkLst>
          <pc:docMk/>
          <pc:sldMk cId="427738408" sldId="267"/>
        </pc:sldMkLst>
        <pc:spChg chg="mod">
          <ac:chgData name="ARKORFUL S. KOBINA EBO" userId="adda195f3cc4306c" providerId="Windows Live" clId="Web-{7D5C3001-CED0-AE3C-92F4-D5E6D854B1D6}" dt="2026-06-01T21:09:33.710" v="112" actId="20577"/>
          <ac:spMkLst>
            <pc:docMk/>
            <pc:sldMk cId="427738408" sldId="267"/>
            <ac:spMk id="2" creationId="{59D1BD81-1965-6105-7FE9-B8B9A8D3ADD4}"/>
          </ac:spMkLst>
        </pc:spChg>
        <pc:spChg chg="mod">
          <ac:chgData name="ARKORFUL S. KOBINA EBO" userId="adda195f3cc4306c" providerId="Windows Live" clId="Web-{7D5C3001-CED0-AE3C-92F4-D5E6D854B1D6}" dt="2026-06-01T21:08:29.303" v="108"/>
          <ac:spMkLst>
            <pc:docMk/>
            <pc:sldMk cId="427738408" sldId="267"/>
            <ac:spMk id="3" creationId="{B1C5BBFD-9F55-E51E-38B5-FB8D581EFB28}"/>
          </ac:spMkLst>
        </pc:spChg>
        <pc:spChg chg="del">
          <ac:chgData name="ARKORFUL S. KOBINA EBO" userId="adda195f3cc4306c" providerId="Windows Live" clId="Web-{7D5C3001-CED0-AE3C-92F4-D5E6D854B1D6}" dt="2026-06-01T21:08:29.303" v="108"/>
          <ac:spMkLst>
            <pc:docMk/>
            <pc:sldMk cId="427738408" sldId="267"/>
            <ac:spMk id="47" creationId="{68EE4C72-F2C4-48C0-A42A-6D8069047A8D}"/>
          </ac:spMkLst>
        </pc:spChg>
        <pc:spChg chg="add">
          <ac:chgData name="ARKORFUL S. KOBINA EBO" userId="adda195f3cc4306c" providerId="Windows Live" clId="Web-{7D5C3001-CED0-AE3C-92F4-D5E6D854B1D6}" dt="2026-06-01T21:08:29.303" v="108"/>
          <ac:spMkLst>
            <pc:docMk/>
            <pc:sldMk cId="427738408" sldId="267"/>
            <ac:spMk id="52" creationId="{462665EA-AABF-4427-A720-538234E60CD7}"/>
          </ac:spMkLst>
        </pc:spChg>
        <pc:picChg chg="mod">
          <ac:chgData name="ARKORFUL S. KOBINA EBO" userId="adda195f3cc4306c" providerId="Windows Live" clId="Web-{7D5C3001-CED0-AE3C-92F4-D5E6D854B1D6}" dt="2026-06-01T21:08:29.303" v="108"/>
          <ac:picMkLst>
            <pc:docMk/>
            <pc:sldMk cId="427738408" sldId="267"/>
            <ac:picMk id="11" creationId="{3D2C0477-5FAD-4D26-AEA0-272C2FEAA7F0}"/>
          </ac:picMkLst>
        </pc:picChg>
      </pc:sldChg>
      <pc:sldChg chg="modSp">
        <pc:chgData name="ARKORFUL S. KOBINA EBO" userId="adda195f3cc4306c" providerId="Windows Live" clId="Web-{7D5C3001-CED0-AE3C-92F4-D5E6D854B1D6}" dt="2026-06-01T21:18:10.478" v="160" actId="14100"/>
        <pc:sldMkLst>
          <pc:docMk/>
          <pc:sldMk cId="4275266440" sldId="272"/>
        </pc:sldMkLst>
        <pc:spChg chg="mod">
          <ac:chgData name="ARKORFUL S. KOBINA EBO" userId="adda195f3cc4306c" providerId="Windows Live" clId="Web-{7D5C3001-CED0-AE3C-92F4-D5E6D854B1D6}" dt="2026-06-01T21:12:41.680" v="128" actId="20577"/>
          <ac:spMkLst>
            <pc:docMk/>
            <pc:sldMk cId="4275266440" sldId="272"/>
            <ac:spMk id="2" creationId="{D1A00FCA-0FB2-C129-AC45-1FBF1D6F89F5}"/>
          </ac:spMkLst>
        </pc:spChg>
        <pc:spChg chg="mod">
          <ac:chgData name="ARKORFUL S. KOBINA EBO" userId="adda195f3cc4306c" providerId="Windows Live" clId="Web-{7D5C3001-CED0-AE3C-92F4-D5E6D854B1D6}" dt="2026-06-01T21:18:10.478" v="160" actId="14100"/>
          <ac:spMkLst>
            <pc:docMk/>
            <pc:sldMk cId="4275266440" sldId="272"/>
            <ac:spMk id="3" creationId="{A6A8423C-8751-7802-E8FB-717CC8FAE266}"/>
          </ac:spMkLst>
        </pc:spChg>
        <pc:picChg chg="mod">
          <ac:chgData name="ARKORFUL S. KOBINA EBO" userId="adda195f3cc4306c" providerId="Windows Live" clId="Web-{7D5C3001-CED0-AE3C-92F4-D5E6D854B1D6}" dt="2026-06-01T20:53:35.236" v="18"/>
          <ac:picMkLst>
            <pc:docMk/>
            <pc:sldMk cId="4275266440" sldId="272"/>
            <ac:picMk id="5" creationId="{51BC100E-1FD0-EF17-3376-6ED660A2B486}"/>
          </ac:picMkLst>
        </pc:picChg>
      </pc:sldChg>
      <pc:sldChg chg="modSp">
        <pc:chgData name="ARKORFUL S. KOBINA EBO" userId="adda195f3cc4306c" providerId="Windows Live" clId="Web-{7D5C3001-CED0-AE3C-92F4-D5E6D854B1D6}" dt="2026-06-01T21:18:33.088" v="162" actId="14100"/>
        <pc:sldMkLst>
          <pc:docMk/>
          <pc:sldMk cId="670334545" sldId="273"/>
        </pc:sldMkLst>
        <pc:spChg chg="mod">
          <ac:chgData name="ARKORFUL S. KOBINA EBO" userId="adda195f3cc4306c" providerId="Windows Live" clId="Web-{7D5C3001-CED0-AE3C-92F4-D5E6D854B1D6}" dt="2026-06-01T21:12:30.726" v="127" actId="20577"/>
          <ac:spMkLst>
            <pc:docMk/>
            <pc:sldMk cId="670334545" sldId="273"/>
            <ac:spMk id="2" creationId="{1A277B03-303D-6623-DC4B-A3308DCF4982}"/>
          </ac:spMkLst>
        </pc:spChg>
        <pc:spChg chg="mod">
          <ac:chgData name="ARKORFUL S. KOBINA EBO" userId="adda195f3cc4306c" providerId="Windows Live" clId="Web-{7D5C3001-CED0-AE3C-92F4-D5E6D854B1D6}" dt="2026-06-01T21:18:33.088" v="162" actId="14100"/>
          <ac:spMkLst>
            <pc:docMk/>
            <pc:sldMk cId="670334545" sldId="273"/>
            <ac:spMk id="3" creationId="{58BEBC74-908A-76A7-70B8-B2901DFB64B1}"/>
          </ac:spMkLst>
        </pc:spChg>
        <pc:picChg chg="mod">
          <ac:chgData name="ARKORFUL S. KOBINA EBO" userId="adda195f3cc4306c" providerId="Windows Live" clId="Web-{7D5C3001-CED0-AE3C-92F4-D5E6D854B1D6}" dt="2026-06-01T20:53:26.626" v="17"/>
          <ac:picMkLst>
            <pc:docMk/>
            <pc:sldMk cId="670334545" sldId="273"/>
            <ac:picMk id="4" creationId="{A2E072ED-C28D-A5D8-5E7D-5D06AB9EA3B7}"/>
          </ac:picMkLst>
        </pc:picChg>
      </pc:sldChg>
      <pc:sldChg chg="modSp">
        <pc:chgData name="ARKORFUL S. KOBINA EBO" userId="adda195f3cc4306c" providerId="Windows Live" clId="Web-{7D5C3001-CED0-AE3C-92F4-D5E6D854B1D6}" dt="2026-06-01T21:26:16.340" v="230"/>
        <pc:sldMkLst>
          <pc:docMk/>
          <pc:sldMk cId="668703841" sldId="279"/>
        </pc:sldMkLst>
        <pc:spChg chg="mod">
          <ac:chgData name="ARKORFUL S. KOBINA EBO" userId="adda195f3cc4306c" providerId="Windows Live" clId="Web-{7D5C3001-CED0-AE3C-92F4-D5E6D854B1D6}" dt="2026-06-01T21:13:36.617" v="134" actId="14100"/>
          <ac:spMkLst>
            <pc:docMk/>
            <pc:sldMk cId="668703841" sldId="279"/>
            <ac:spMk id="2" creationId="{523AF900-838D-910B-97C5-035BC1F19EF9}"/>
          </ac:spMkLst>
        </pc:spChg>
        <pc:spChg chg="mod">
          <ac:chgData name="ARKORFUL S. KOBINA EBO" userId="adda195f3cc4306c" providerId="Windows Live" clId="Web-{7D5C3001-CED0-AE3C-92F4-D5E6D854B1D6}" dt="2026-06-01T21:16:41.337" v="147" actId="20577"/>
          <ac:spMkLst>
            <pc:docMk/>
            <pc:sldMk cId="668703841" sldId="279"/>
            <ac:spMk id="3" creationId="{CB6A75D6-0D99-E2C8-5DC8-BB5140B8A761}"/>
          </ac:spMkLst>
        </pc:spChg>
        <pc:graphicFrameChg chg="mod modGraphic">
          <ac:chgData name="ARKORFUL S. KOBINA EBO" userId="adda195f3cc4306c" providerId="Windows Live" clId="Web-{7D5C3001-CED0-AE3C-92F4-D5E6D854B1D6}" dt="2026-06-01T21:26:16.340" v="230"/>
          <ac:graphicFrameMkLst>
            <pc:docMk/>
            <pc:sldMk cId="668703841" sldId="279"/>
            <ac:graphicFrameMk id="5" creationId="{D31ADC97-15C5-F4A1-0D08-A57CA82ACCDE}"/>
          </ac:graphicFrameMkLst>
        </pc:graphicFrameChg>
      </pc:sldChg>
      <pc:sldChg chg="modSp">
        <pc:chgData name="ARKORFUL S. KOBINA EBO" userId="adda195f3cc4306c" providerId="Windows Live" clId="Web-{7D5C3001-CED0-AE3C-92F4-D5E6D854B1D6}" dt="2026-06-01T21:17:53.369" v="158" actId="14100"/>
        <pc:sldMkLst>
          <pc:docMk/>
          <pc:sldMk cId="3030623047" sldId="280"/>
        </pc:sldMkLst>
        <pc:spChg chg="mod">
          <ac:chgData name="ARKORFUL S. KOBINA EBO" userId="adda195f3cc4306c" providerId="Windows Live" clId="Web-{7D5C3001-CED0-AE3C-92F4-D5E6D854B1D6}" dt="2026-06-01T21:13:18.946" v="132" actId="14100"/>
          <ac:spMkLst>
            <pc:docMk/>
            <pc:sldMk cId="3030623047" sldId="280"/>
            <ac:spMk id="2" creationId="{4A5D96BA-5EB4-4A5F-A2A6-1047AF4C5BD8}"/>
          </ac:spMkLst>
        </pc:spChg>
        <pc:spChg chg="mod">
          <ac:chgData name="ARKORFUL S. KOBINA EBO" userId="adda195f3cc4306c" providerId="Windows Live" clId="Web-{7D5C3001-CED0-AE3C-92F4-D5E6D854B1D6}" dt="2026-06-01T21:17:53.369" v="158" actId="14100"/>
          <ac:spMkLst>
            <pc:docMk/>
            <pc:sldMk cId="3030623047" sldId="280"/>
            <ac:spMk id="3" creationId="{230FDBCA-A36A-EB65-3890-6F0DD0B2F2FA}"/>
          </ac:spMkLst>
        </pc:spChg>
        <pc:picChg chg="mod">
          <ac:chgData name="ARKORFUL S. KOBINA EBO" userId="adda195f3cc4306c" providerId="Windows Live" clId="Web-{7D5C3001-CED0-AE3C-92F4-D5E6D854B1D6}" dt="2026-06-01T21:17:43.713" v="157" actId="14100"/>
          <ac:picMkLst>
            <pc:docMk/>
            <pc:sldMk cId="3030623047" sldId="280"/>
            <ac:picMk id="4" creationId="{C48B4844-1766-0C80-6B75-CDEF677BF056}"/>
          </ac:picMkLst>
        </pc:picChg>
        <pc:picChg chg="mod">
          <ac:chgData name="ARKORFUL S. KOBINA EBO" userId="adda195f3cc4306c" providerId="Windows Live" clId="Web-{7D5C3001-CED0-AE3C-92F4-D5E6D854B1D6}" dt="2026-06-01T21:17:36.150" v="156" actId="14100"/>
          <ac:picMkLst>
            <pc:docMk/>
            <pc:sldMk cId="3030623047" sldId="280"/>
            <ac:picMk id="6" creationId="{47435640-4465-7DB0-0FC9-569CF60BBD68}"/>
          </ac:picMkLst>
        </pc:picChg>
      </pc:sldChg>
      <pc:sldChg chg="modSp">
        <pc:chgData name="ARKORFUL S. KOBINA EBO" userId="adda195f3cc4306c" providerId="Windows Live" clId="Web-{7D5C3001-CED0-AE3C-92F4-D5E6D854B1D6}" dt="2026-06-01T21:04:48.661" v="91" actId="20577"/>
        <pc:sldMkLst>
          <pc:docMk/>
          <pc:sldMk cId="1229468436" sldId="283"/>
        </pc:sldMkLst>
        <pc:spChg chg="mod">
          <ac:chgData name="ARKORFUL S. KOBINA EBO" userId="adda195f3cc4306c" providerId="Windows Live" clId="Web-{7D5C3001-CED0-AE3C-92F4-D5E6D854B1D6}" dt="2026-06-01T21:04:48.661" v="91" actId="20577"/>
          <ac:spMkLst>
            <pc:docMk/>
            <pc:sldMk cId="1229468436" sldId="283"/>
            <ac:spMk id="2" creationId="{E952850F-8B5A-47C9-126A-20EADB6D4097}"/>
          </ac:spMkLst>
        </pc:spChg>
        <pc:picChg chg="mod">
          <ac:chgData name="ARKORFUL S. KOBINA EBO" userId="adda195f3cc4306c" providerId="Windows Live" clId="Web-{7D5C3001-CED0-AE3C-92F4-D5E6D854B1D6}" dt="2026-06-01T20:55:17.455" v="31" actId="14100"/>
          <ac:picMkLst>
            <pc:docMk/>
            <pc:sldMk cId="1229468436" sldId="283"/>
            <ac:picMk id="5" creationId="{F02154AE-469D-1F07-5557-5EF8CE0CF006}"/>
          </ac:picMkLst>
        </pc:picChg>
        <pc:picChg chg="mod">
          <ac:chgData name="ARKORFUL S. KOBINA EBO" userId="adda195f3cc4306c" providerId="Windows Live" clId="Web-{7D5C3001-CED0-AE3C-92F4-D5E6D854B1D6}" dt="2026-06-01T20:55:12.330" v="30" actId="14100"/>
          <ac:picMkLst>
            <pc:docMk/>
            <pc:sldMk cId="1229468436" sldId="283"/>
            <ac:picMk id="6" creationId="{C73349F4-BAD2-6C5A-C560-39695DDB7BC4}"/>
          </ac:picMkLst>
        </pc:picChg>
      </pc:sldChg>
      <pc:sldChg chg="modSp">
        <pc:chgData name="ARKORFUL S. KOBINA EBO" userId="adda195f3cc4306c" providerId="Windows Live" clId="Web-{7D5C3001-CED0-AE3C-92F4-D5E6D854B1D6}" dt="2026-06-01T21:04:58.786" v="93" actId="20577"/>
        <pc:sldMkLst>
          <pc:docMk/>
          <pc:sldMk cId="525062753" sldId="284"/>
        </pc:sldMkLst>
        <pc:spChg chg="mod">
          <ac:chgData name="ARKORFUL S. KOBINA EBO" userId="adda195f3cc4306c" providerId="Windows Live" clId="Web-{7D5C3001-CED0-AE3C-92F4-D5E6D854B1D6}" dt="2026-06-01T21:04:58.786" v="93" actId="20577"/>
          <ac:spMkLst>
            <pc:docMk/>
            <pc:sldMk cId="525062753" sldId="284"/>
            <ac:spMk id="2" creationId="{C057D011-B742-065D-0D36-1A5DEB1A799A}"/>
          </ac:spMkLst>
        </pc:spChg>
        <pc:picChg chg="mod">
          <ac:chgData name="ARKORFUL S. KOBINA EBO" userId="adda195f3cc4306c" providerId="Windows Live" clId="Web-{7D5C3001-CED0-AE3C-92F4-D5E6D854B1D6}" dt="2026-06-01T20:55:38.455" v="33" actId="1076"/>
          <ac:picMkLst>
            <pc:docMk/>
            <pc:sldMk cId="525062753" sldId="284"/>
            <ac:picMk id="5" creationId="{55A91DC0-A616-BD45-3EAF-C4592616846D}"/>
          </ac:picMkLst>
        </pc:picChg>
        <pc:picChg chg="mod">
          <ac:chgData name="ARKORFUL S. KOBINA EBO" userId="adda195f3cc4306c" providerId="Windows Live" clId="Web-{7D5C3001-CED0-AE3C-92F4-D5E6D854B1D6}" dt="2026-06-01T20:55:22.752" v="32" actId="1076"/>
          <ac:picMkLst>
            <pc:docMk/>
            <pc:sldMk cId="525062753" sldId="284"/>
            <ac:picMk id="6" creationId="{2F09BD3B-80B3-1F09-F119-4AE3945FA0CD}"/>
          </ac:picMkLst>
        </pc:picChg>
      </pc:sldChg>
      <pc:sldChg chg="addSp delSp modSp">
        <pc:chgData name="ARKORFUL S. KOBINA EBO" userId="adda195f3cc4306c" providerId="Windows Live" clId="Web-{7D5C3001-CED0-AE3C-92F4-D5E6D854B1D6}" dt="2026-06-01T21:23:33.370" v="188" actId="14100"/>
        <pc:sldMkLst>
          <pc:docMk/>
          <pc:sldMk cId="1902004245" sldId="286"/>
        </pc:sldMkLst>
        <pc:spChg chg="mod ord">
          <ac:chgData name="ARKORFUL S. KOBINA EBO" userId="adda195f3cc4306c" providerId="Windows Live" clId="Web-{7D5C3001-CED0-AE3C-92F4-D5E6D854B1D6}" dt="2026-06-01T21:23:33.370" v="188" actId="14100"/>
          <ac:spMkLst>
            <pc:docMk/>
            <pc:sldMk cId="1902004245" sldId="286"/>
            <ac:spMk id="2" creationId="{83CAE60A-5644-05FA-E5C6-741914E30A1C}"/>
          </ac:spMkLst>
        </pc:spChg>
        <pc:spChg chg="mod">
          <ac:chgData name="ARKORFUL S. KOBINA EBO" userId="adda195f3cc4306c" providerId="Windows Live" clId="Web-{7D5C3001-CED0-AE3C-92F4-D5E6D854B1D6}" dt="2026-06-01T21:23:30.261" v="187" actId="14100"/>
          <ac:spMkLst>
            <pc:docMk/>
            <pc:sldMk cId="1902004245" sldId="286"/>
            <ac:spMk id="3" creationId="{34890846-5C8B-E16D-DA82-4F4E47D089F1}"/>
          </ac:spMkLst>
        </pc:spChg>
        <pc:spChg chg="add del">
          <ac:chgData name="ARKORFUL S. KOBINA EBO" userId="adda195f3cc4306c" providerId="Windows Live" clId="Web-{7D5C3001-CED0-AE3C-92F4-D5E6D854B1D6}" dt="2026-06-01T21:21:25.948" v="167"/>
          <ac:spMkLst>
            <pc:docMk/>
            <pc:sldMk cId="1902004245" sldId="286"/>
            <ac:spMk id="56" creationId="{462665EA-AABF-4427-A720-538234E60CD7}"/>
          </ac:spMkLst>
        </pc:spChg>
        <pc:spChg chg="add del">
          <ac:chgData name="ARKORFUL S. KOBINA EBO" userId="adda195f3cc4306c" providerId="Windows Live" clId="Web-{7D5C3001-CED0-AE3C-92F4-D5E6D854B1D6}" dt="2026-06-01T21:21:25.948" v="167"/>
          <ac:spMkLst>
            <pc:docMk/>
            <pc:sldMk cId="1902004245" sldId="286"/>
            <ac:spMk id="65" creationId="{3F088236-D655-4F88-B238-E16762358025}"/>
          </ac:spMkLst>
        </pc:spChg>
        <pc:spChg chg="add del">
          <ac:chgData name="ARKORFUL S. KOBINA EBO" userId="adda195f3cc4306c" providerId="Windows Live" clId="Web-{7D5C3001-CED0-AE3C-92F4-D5E6D854B1D6}" dt="2026-06-01T21:21:25.948" v="167"/>
          <ac:spMkLst>
            <pc:docMk/>
            <pc:sldMk cId="1902004245" sldId="286"/>
            <ac:spMk id="67" creationId="{3DAC0C92-199E-475C-9390-119A9B027276}"/>
          </ac:spMkLst>
        </pc:spChg>
        <pc:spChg chg="add del">
          <ac:chgData name="ARKORFUL S. KOBINA EBO" userId="adda195f3cc4306c" providerId="Windows Live" clId="Web-{7D5C3001-CED0-AE3C-92F4-D5E6D854B1D6}" dt="2026-06-01T21:21:25.948" v="167"/>
          <ac:spMkLst>
            <pc:docMk/>
            <pc:sldMk cId="1902004245" sldId="286"/>
            <ac:spMk id="69" creationId="{C4CFB339-0ED8-4FE2-9EF1-6D1375B8499B}"/>
          </ac:spMkLst>
        </pc:spChg>
        <pc:spChg chg="add del">
          <ac:chgData name="ARKORFUL S. KOBINA EBO" userId="adda195f3cc4306c" providerId="Windows Live" clId="Web-{7D5C3001-CED0-AE3C-92F4-D5E6D854B1D6}" dt="2026-06-01T21:21:25.948" v="167"/>
          <ac:spMkLst>
            <pc:docMk/>
            <pc:sldMk cId="1902004245" sldId="286"/>
            <ac:spMk id="71" creationId="{31896C80-2069-4431-9C19-83B913734490}"/>
          </ac:spMkLst>
        </pc:spChg>
        <pc:spChg chg="add del">
          <ac:chgData name="ARKORFUL S. KOBINA EBO" userId="adda195f3cc4306c" providerId="Windows Live" clId="Web-{7D5C3001-CED0-AE3C-92F4-D5E6D854B1D6}" dt="2026-06-01T21:21:25.948" v="167"/>
          <ac:spMkLst>
            <pc:docMk/>
            <pc:sldMk cId="1902004245" sldId="286"/>
            <ac:spMk id="73" creationId="{BF120A21-0841-4823-B0C4-28AEBCEF9B78}"/>
          </ac:spMkLst>
        </pc:spChg>
        <pc:spChg chg="add del">
          <ac:chgData name="ARKORFUL S. KOBINA EBO" userId="adda195f3cc4306c" providerId="Windows Live" clId="Web-{7D5C3001-CED0-AE3C-92F4-D5E6D854B1D6}" dt="2026-06-01T21:21:25.948" v="167"/>
          <ac:spMkLst>
            <pc:docMk/>
            <pc:sldMk cId="1902004245" sldId="286"/>
            <ac:spMk id="75" creationId="{DBB05BAE-BBD3-4289-899F-A6851503C6B0}"/>
          </ac:spMkLst>
        </pc:spChg>
        <pc:spChg chg="add del">
          <ac:chgData name="ARKORFUL S. KOBINA EBO" userId="adda195f3cc4306c" providerId="Windows Live" clId="Web-{7D5C3001-CED0-AE3C-92F4-D5E6D854B1D6}" dt="2026-06-01T21:21:25.948" v="167"/>
          <ac:spMkLst>
            <pc:docMk/>
            <pc:sldMk cId="1902004245" sldId="286"/>
            <ac:spMk id="77" creationId="{9874D11C-36F5-4BBE-A490-019A54E953B0}"/>
          </ac:spMkLst>
        </pc:spChg>
        <pc:picChg chg="mod">
          <ac:chgData name="ARKORFUL S. KOBINA EBO" userId="adda195f3cc4306c" providerId="Windows Live" clId="Web-{7D5C3001-CED0-AE3C-92F4-D5E6D854B1D6}" dt="2026-06-01T21:23:15.074" v="184" actId="14100"/>
          <ac:picMkLst>
            <pc:docMk/>
            <pc:sldMk cId="1902004245" sldId="286"/>
            <ac:picMk id="5" creationId="{48DC32B8-EF9F-B2BA-98C2-D56859323A13}"/>
          </ac:picMkLst>
        </pc:picChg>
      </pc:sldChg>
      <pc:sldChg chg="modSp">
        <pc:chgData name="ARKORFUL S. KOBINA EBO" userId="adda195f3cc4306c" providerId="Windows Live" clId="Web-{7D5C3001-CED0-AE3C-92F4-D5E6D854B1D6}" dt="2026-06-01T21:28:48.903" v="232" actId="14100"/>
        <pc:sldMkLst>
          <pc:docMk/>
          <pc:sldMk cId="3673930504" sldId="287"/>
        </pc:sldMkLst>
        <pc:spChg chg="mod">
          <ac:chgData name="ARKORFUL S. KOBINA EBO" userId="adda195f3cc4306c" providerId="Windows Live" clId="Web-{7D5C3001-CED0-AE3C-92F4-D5E6D854B1D6}" dt="2026-06-01T21:12:49.914" v="129" actId="20577"/>
          <ac:spMkLst>
            <pc:docMk/>
            <pc:sldMk cId="3673930504" sldId="287"/>
            <ac:spMk id="2" creationId="{E90CF844-6FB8-B44A-FBFF-3619581DBE5F}"/>
          </ac:spMkLst>
        </pc:spChg>
        <pc:spChg chg="mod">
          <ac:chgData name="ARKORFUL S. KOBINA EBO" userId="adda195f3cc4306c" providerId="Windows Live" clId="Web-{7D5C3001-CED0-AE3C-92F4-D5E6D854B1D6}" dt="2026-06-01T21:28:48.903" v="232" actId="14100"/>
          <ac:spMkLst>
            <pc:docMk/>
            <pc:sldMk cId="3673930504" sldId="287"/>
            <ac:spMk id="3" creationId="{903FC469-F594-CFE8-E608-CBDC93D12013}"/>
          </ac:spMkLst>
        </pc:spChg>
        <pc:picChg chg="mod">
          <ac:chgData name="ARKORFUL S. KOBINA EBO" userId="adda195f3cc4306c" providerId="Windows Live" clId="Web-{7D5C3001-CED0-AE3C-92F4-D5E6D854B1D6}" dt="2026-06-01T20:53:41.455" v="19"/>
          <ac:picMkLst>
            <pc:docMk/>
            <pc:sldMk cId="3673930504" sldId="287"/>
            <ac:picMk id="4" creationId="{AE725F29-05E9-E61E-F8E5-F4ABC8E65D03}"/>
          </ac:picMkLst>
        </pc:picChg>
      </pc:sldChg>
      <pc:sldChg chg="modSp">
        <pc:chgData name="ARKORFUL S. KOBINA EBO" userId="adda195f3cc4306c" providerId="Windows Live" clId="Web-{7D5C3001-CED0-AE3C-92F4-D5E6D854B1D6}" dt="2026-06-01T21:16:22.400" v="145" actId="20577"/>
        <pc:sldMkLst>
          <pc:docMk/>
          <pc:sldMk cId="971914090" sldId="288"/>
        </pc:sldMkLst>
        <pc:spChg chg="mod">
          <ac:chgData name="ARKORFUL S. KOBINA EBO" userId="adda195f3cc4306c" providerId="Windows Live" clId="Web-{7D5C3001-CED0-AE3C-92F4-D5E6D854B1D6}" dt="2026-06-01T21:05:11.287" v="95" actId="20577"/>
          <ac:spMkLst>
            <pc:docMk/>
            <pc:sldMk cId="971914090" sldId="288"/>
            <ac:spMk id="2" creationId="{5B5E08E3-1CDF-08C2-E643-B168EC718E56}"/>
          </ac:spMkLst>
        </pc:spChg>
        <pc:spChg chg="mod">
          <ac:chgData name="ARKORFUL S. KOBINA EBO" userId="adda195f3cc4306c" providerId="Windows Live" clId="Web-{7D5C3001-CED0-AE3C-92F4-D5E6D854B1D6}" dt="2026-06-01T21:16:22.400" v="145" actId="20577"/>
          <ac:spMkLst>
            <pc:docMk/>
            <pc:sldMk cId="971914090" sldId="288"/>
            <ac:spMk id="3" creationId="{1107C0AA-54BD-3401-C144-F76BAE93FA3C}"/>
          </ac:spMkLst>
        </pc:spChg>
        <pc:picChg chg="mod">
          <ac:chgData name="ARKORFUL S. KOBINA EBO" userId="adda195f3cc4306c" providerId="Windows Live" clId="Web-{7D5C3001-CED0-AE3C-92F4-D5E6D854B1D6}" dt="2026-06-01T20:53:56.080" v="21"/>
          <ac:picMkLst>
            <pc:docMk/>
            <pc:sldMk cId="971914090" sldId="288"/>
            <ac:picMk id="5" creationId="{E14F3233-D678-6CE4-5F5F-A8CE92B9BF1D}"/>
          </ac:picMkLst>
        </pc:picChg>
        <pc:picChg chg="mod">
          <ac:chgData name="ARKORFUL S. KOBINA EBO" userId="adda195f3cc4306c" providerId="Windows Live" clId="Web-{7D5C3001-CED0-AE3C-92F4-D5E6D854B1D6}" dt="2026-06-01T20:55:54.377" v="35" actId="1076"/>
          <ac:picMkLst>
            <pc:docMk/>
            <pc:sldMk cId="971914090" sldId="288"/>
            <ac:picMk id="6" creationId="{5CCDE621-215C-9947-5129-511B2F0232A2}"/>
          </ac:picMkLst>
        </pc:picChg>
      </pc:sldChg>
      <pc:sldChg chg="modSp">
        <pc:chgData name="ARKORFUL S. KOBINA EBO" userId="adda195f3cc4306c" providerId="Windows Live" clId="Web-{7D5C3001-CED0-AE3C-92F4-D5E6D854B1D6}" dt="2026-06-01T21:12:00.476" v="126" actId="14100"/>
        <pc:sldMkLst>
          <pc:docMk/>
          <pc:sldMk cId="3188609369" sldId="289"/>
        </pc:sldMkLst>
        <pc:spChg chg="mod">
          <ac:chgData name="ARKORFUL S. KOBINA EBO" userId="adda195f3cc4306c" providerId="Windows Live" clId="Web-{7D5C3001-CED0-AE3C-92F4-D5E6D854B1D6}" dt="2026-06-01T21:12:00.476" v="126" actId="14100"/>
          <ac:spMkLst>
            <pc:docMk/>
            <pc:sldMk cId="3188609369" sldId="289"/>
            <ac:spMk id="2" creationId="{04D6DE53-2532-EEBE-2DBA-C3AC89676193}"/>
          </ac:spMkLst>
        </pc:spChg>
        <pc:spChg chg="mod">
          <ac:chgData name="ARKORFUL S. KOBINA EBO" userId="adda195f3cc4306c" providerId="Windows Live" clId="Web-{7D5C3001-CED0-AE3C-92F4-D5E6D854B1D6}" dt="2026-06-01T20:59:32.238" v="44" actId="20577"/>
          <ac:spMkLst>
            <pc:docMk/>
            <pc:sldMk cId="3188609369" sldId="289"/>
            <ac:spMk id="3" creationId="{09D39FD5-53DE-B8CC-E762-0E207873179C}"/>
          </ac:spMkLst>
        </pc:spChg>
      </pc:sldChg>
      <pc:sldChg chg="modSp">
        <pc:chgData name="ARKORFUL S. KOBINA EBO" userId="adda195f3cc4306c" providerId="Windows Live" clId="Web-{7D5C3001-CED0-AE3C-92F4-D5E6D854B1D6}" dt="2026-06-01T21:16:31.853" v="146" actId="20577"/>
        <pc:sldMkLst>
          <pc:docMk/>
          <pc:sldMk cId="3037087436" sldId="290"/>
        </pc:sldMkLst>
        <pc:spChg chg="mod">
          <ac:chgData name="ARKORFUL S. KOBINA EBO" userId="adda195f3cc4306c" providerId="Windows Live" clId="Web-{7D5C3001-CED0-AE3C-92F4-D5E6D854B1D6}" dt="2026-06-01T21:13:54.868" v="137" actId="14100"/>
          <ac:spMkLst>
            <pc:docMk/>
            <pc:sldMk cId="3037087436" sldId="290"/>
            <ac:spMk id="2" creationId="{7CD1A456-C8F9-2879-7308-A9E70C33AA51}"/>
          </ac:spMkLst>
        </pc:spChg>
        <pc:spChg chg="mod">
          <ac:chgData name="ARKORFUL S. KOBINA EBO" userId="adda195f3cc4306c" providerId="Windows Live" clId="Web-{7D5C3001-CED0-AE3C-92F4-D5E6D854B1D6}" dt="2026-06-01T21:16:31.853" v="146" actId="20577"/>
          <ac:spMkLst>
            <pc:docMk/>
            <pc:sldMk cId="3037087436" sldId="290"/>
            <ac:spMk id="3" creationId="{528B5E39-3A00-E9DA-E6C9-7612121ECAD9}"/>
          </ac:spMkLst>
        </pc:spChg>
        <pc:picChg chg="mod">
          <ac:chgData name="ARKORFUL S. KOBINA EBO" userId="adda195f3cc4306c" providerId="Windows Live" clId="Web-{7D5C3001-CED0-AE3C-92F4-D5E6D854B1D6}" dt="2026-06-01T20:53:50.502" v="20"/>
          <ac:picMkLst>
            <pc:docMk/>
            <pc:sldMk cId="3037087436" sldId="290"/>
            <ac:picMk id="4" creationId="{FC67A98E-95A8-0FE7-A044-FF4F2B184CDB}"/>
          </ac:picMkLst>
        </pc:picChg>
      </pc:sldChg>
    </pc:docChg>
  </pc:docChgLst>
  <pc:docChgLst>
    <pc:chgData name="ARKORFUL S. KOBINA EBO" userId="adda195f3cc4306c" providerId="LiveId" clId="{045C9616-7DDB-451D-A9FF-4A698829F34D}"/>
    <pc:docChg chg="modSld">
      <pc:chgData name="ARKORFUL S. KOBINA EBO" userId="adda195f3cc4306c" providerId="LiveId" clId="{045C9616-7DDB-451D-A9FF-4A698829F34D}" dt="2026-06-01T16:26:03.885" v="24" actId="15"/>
      <pc:docMkLst>
        <pc:docMk/>
      </pc:docMkLst>
      <pc:sldChg chg="modSp mod">
        <pc:chgData name="ARKORFUL S. KOBINA EBO" userId="adda195f3cc4306c" providerId="LiveId" clId="{045C9616-7DDB-451D-A9FF-4A698829F34D}" dt="2026-06-01T16:26:03.885" v="24" actId="15"/>
        <pc:sldMkLst>
          <pc:docMk/>
          <pc:sldMk cId="670334545" sldId="273"/>
        </pc:sldMkLst>
        <pc:spChg chg="mod">
          <ac:chgData name="ARKORFUL S. KOBINA EBO" userId="adda195f3cc4306c" providerId="LiveId" clId="{045C9616-7DDB-451D-A9FF-4A698829F34D}" dt="2026-06-01T16:26:03.885" v="24" actId="15"/>
          <ac:spMkLst>
            <pc:docMk/>
            <pc:sldMk cId="670334545" sldId="273"/>
            <ac:spMk id="3" creationId="{58BEBC74-908A-76A7-70B8-B2901DFB64B1}"/>
          </ac:spMkLst>
        </pc:spChg>
      </pc:sldChg>
      <pc:sldChg chg="modSp mod">
        <pc:chgData name="ARKORFUL S. KOBINA EBO" userId="adda195f3cc4306c" providerId="LiveId" clId="{045C9616-7DDB-451D-A9FF-4A698829F34D}" dt="2026-06-01T16:25:32.241" v="16" actId="15"/>
        <pc:sldMkLst>
          <pc:docMk/>
          <pc:sldMk cId="668703841" sldId="279"/>
        </pc:sldMkLst>
        <pc:spChg chg="mod">
          <ac:chgData name="ARKORFUL S. KOBINA EBO" userId="adda195f3cc4306c" providerId="LiveId" clId="{045C9616-7DDB-451D-A9FF-4A698829F34D}" dt="2026-06-01T16:25:32.241" v="16" actId="15"/>
          <ac:spMkLst>
            <pc:docMk/>
            <pc:sldMk cId="668703841" sldId="279"/>
            <ac:spMk id="3" creationId="{CB6A75D6-0D99-E2C8-5DC8-BB5140B8A761}"/>
          </ac:spMkLst>
        </pc:spChg>
        <pc:graphicFrameChg chg="modGraphic">
          <ac:chgData name="ARKORFUL S. KOBINA EBO" userId="adda195f3cc4306c" providerId="LiveId" clId="{045C9616-7DDB-451D-A9FF-4A698829F34D}" dt="2026-06-01T16:13:45.135" v="5" actId="20577"/>
          <ac:graphicFrameMkLst>
            <pc:docMk/>
            <pc:sldMk cId="668703841" sldId="279"/>
            <ac:graphicFrameMk id="5" creationId="{D31ADC97-15C5-F4A1-0D08-A57CA82ACCDE}"/>
          </ac:graphicFrameMkLst>
        </pc:graphicFrameChg>
      </pc:sldChg>
      <pc:sldChg chg="modSp mod">
        <pc:chgData name="ARKORFUL S. KOBINA EBO" userId="adda195f3cc4306c" providerId="LiveId" clId="{045C9616-7DDB-451D-A9FF-4A698829F34D}" dt="2026-06-01T16:25:48.673" v="20" actId="15"/>
        <pc:sldMkLst>
          <pc:docMk/>
          <pc:sldMk cId="3673930504" sldId="287"/>
        </pc:sldMkLst>
        <pc:spChg chg="mod">
          <ac:chgData name="ARKORFUL S. KOBINA EBO" userId="adda195f3cc4306c" providerId="LiveId" clId="{045C9616-7DDB-451D-A9FF-4A698829F34D}" dt="2026-06-01T16:25:48.673" v="20" actId="15"/>
          <ac:spMkLst>
            <pc:docMk/>
            <pc:sldMk cId="3673930504" sldId="287"/>
            <ac:spMk id="3" creationId="{903FC469-F594-CFE8-E608-CBDC93D12013}"/>
          </ac:spMkLst>
        </pc:spChg>
      </pc:sldChg>
      <pc:sldChg chg="modSp mod">
        <pc:chgData name="ARKORFUL S. KOBINA EBO" userId="adda195f3cc4306c" providerId="LiveId" clId="{045C9616-7DDB-451D-A9FF-4A698829F34D}" dt="2026-06-01T16:24:51.306" v="9" actId="14100"/>
        <pc:sldMkLst>
          <pc:docMk/>
          <pc:sldMk cId="971914090" sldId="288"/>
        </pc:sldMkLst>
        <pc:spChg chg="mod">
          <ac:chgData name="ARKORFUL S. KOBINA EBO" userId="adda195f3cc4306c" providerId="LiveId" clId="{045C9616-7DDB-451D-A9FF-4A698829F34D}" dt="2026-06-01T16:24:51.306" v="9" actId="14100"/>
          <ac:spMkLst>
            <pc:docMk/>
            <pc:sldMk cId="971914090" sldId="288"/>
            <ac:spMk id="3" creationId="{1107C0AA-54BD-3401-C144-F76BAE93FA3C}"/>
          </ac:spMkLst>
        </pc:spChg>
      </pc:sldChg>
      <pc:sldChg chg="modSp mod">
        <pc:chgData name="ARKORFUL S. KOBINA EBO" userId="adda195f3cc4306c" providerId="LiveId" clId="{045C9616-7DDB-451D-A9FF-4A698829F34D}" dt="2026-06-01T16:25:06.080" v="12" actId="15"/>
        <pc:sldMkLst>
          <pc:docMk/>
          <pc:sldMk cId="3037087436" sldId="290"/>
        </pc:sldMkLst>
        <pc:spChg chg="mod">
          <ac:chgData name="ARKORFUL S. KOBINA EBO" userId="adda195f3cc4306c" providerId="LiveId" clId="{045C9616-7DDB-451D-A9FF-4A698829F34D}" dt="2026-06-01T16:25:06.080" v="12" actId="15"/>
          <ac:spMkLst>
            <pc:docMk/>
            <pc:sldMk cId="3037087436" sldId="290"/>
            <ac:spMk id="3" creationId="{528B5E39-3A00-E9DA-E6C9-7612121ECAD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A9243F-4D83-4F48-AE8A-9C9B0545A54F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CF6496-AFEF-4079-8381-9D95BC5E08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574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F6496-AFEF-4079-8381-9D95BC5E08B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972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F6496-AFEF-4079-8381-9D95BC5E08B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011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F6496-AFEF-4079-8381-9D95BC5E08B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35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D4F58-0082-E8FB-4A9A-9771265E7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9A766-BD72-D655-68F0-208F533AD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5F15D6-2311-0949-C67C-3DB32959C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13726-6EFE-B232-E30C-F24B38D67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F6496-AFEF-4079-8381-9D95BC5E08B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0343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CF6496-AFEF-4079-8381-9D95BC5E08B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289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64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67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84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40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863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83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927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89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21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741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3019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163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0879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3157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5369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CDA61-016B-457D-B698-18EE5200A19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770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CDA61-016B-457D-B698-18EE5200A19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FE04201-FA7E-489A-A835-1B0701BB5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19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BDBAB-DFF0-2A74-77A5-2C8B52BEC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599"/>
            <a:ext cx="11068353" cy="1748589"/>
          </a:xfrm>
        </p:spPr>
        <p:txBody>
          <a:bodyPr anchor="t">
            <a:normAutofit fontScale="90000"/>
          </a:bodyPr>
          <a:lstStyle/>
          <a:p>
            <a:r>
              <a:rPr lang="en-US" sz="4000" b="1" dirty="0"/>
              <a:t>Localized Telco Retention: </a:t>
            </a:r>
            <a:br>
              <a:rPr lang="en-US" sz="4000" b="1" dirty="0"/>
            </a:br>
            <a:r>
              <a:rPr lang="en-US" sz="4000" b="1" dirty="0"/>
              <a:t>A Geospatial and Financial Risk Analysis</a:t>
            </a:r>
            <a:br>
              <a:rPr lang="en-US" dirty="0"/>
            </a:br>
            <a:r>
              <a:rPr lang="en-US" sz="2000" dirty="0"/>
              <a:t>(A Data-Driven Strategy Using Network Quality and Targeted Contracts to Reduce Customer Loss)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4E5FB-70C7-69A9-A3C1-13DAD2A98E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2784" y="5367239"/>
            <a:ext cx="3429000" cy="82005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Sikawura Kobina Ebo Arkorful May 2026 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 descr="Blue and orange gradient with arrows">
            <a:extLst>
              <a:ext uri="{FF2B5EF4-FFF2-40B4-BE49-F238E27FC236}">
                <a16:creationId xmlns:a16="http://schemas.microsoft.com/office/drawing/2014/main" id="{FE74C52E-B1D2-0C2D-8FF6-CD2CD0065A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183" r="3" b="3"/>
          <a:stretch>
            <a:fillRect/>
          </a:stretch>
        </p:blipFill>
        <p:spPr>
          <a:xfrm>
            <a:off x="677333" y="2358189"/>
            <a:ext cx="10114491" cy="320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675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48DC32B8-EF9F-B2BA-98C2-D56859323A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824" r="1538"/>
          <a:stretch>
            <a:fillRect/>
          </a:stretch>
        </p:blipFill>
        <p:spPr>
          <a:xfrm>
            <a:off x="7805534" y="-20321"/>
            <a:ext cx="4386466" cy="687832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CAE60A-5644-05FA-E5C6-741914E30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4938243" cy="599440"/>
          </a:xfrm>
        </p:spPr>
        <p:txBody>
          <a:bodyPr>
            <a:normAutofit fontScale="90000"/>
          </a:bodyPr>
          <a:lstStyle/>
          <a:p>
            <a:r>
              <a:rPr lang="en-US" b="1"/>
              <a:t>Executive Summary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90846-5C8B-E16D-DA82-4F4E47D08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05549"/>
            <a:ext cx="7407122" cy="495773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endParaRPr lang="en-US" b="1" dirty="0"/>
          </a:p>
          <a:p>
            <a:pPr>
              <a:lnSpc>
                <a:spcPct val="90000"/>
              </a:lnSpc>
            </a:pPr>
            <a:r>
              <a:rPr lang="en-US" b="1" u="none" strike="noStrike">
                <a:effectLst/>
              </a:rPr>
              <a:t>The Problem:</a:t>
            </a:r>
            <a:r>
              <a:rPr lang="en-US" b="0" u="none" strike="noStrike">
                <a:effectLst/>
              </a:rPr>
              <a:t> Traditional churn tracking relies on lagging billing data, ignoring real-world physical network quality that directly causes customer loss. </a:t>
            </a:r>
          </a:p>
          <a:p>
            <a:pPr>
              <a:lnSpc>
                <a:spcPct val="90000"/>
              </a:lnSpc>
            </a:pPr>
            <a:r>
              <a:rPr lang="en-US" b="1" u="none" strike="noStrike">
                <a:effectLst/>
              </a:rPr>
              <a:t>The Innovation:</a:t>
            </a:r>
            <a:r>
              <a:rPr lang="en-US"/>
              <a:t> A hybrid tracking model combining customer billing details with active local network performance indicators: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Signal Stability Index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Outage History Score</a:t>
            </a:r>
          </a:p>
          <a:p>
            <a:pPr lvl="1">
              <a:lnSpc>
                <a:spcPct val="90000"/>
              </a:lnSpc>
            </a:pPr>
            <a:r>
              <a:rPr lang="en-US" sz="1800"/>
              <a:t>Competitor Exposure</a:t>
            </a:r>
          </a:p>
          <a:p>
            <a:pPr marL="342900" marR="0" lvl="0" indent="-342900" defTabSz="4572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DDDDD"/>
              </a:buClr>
              <a:buSzPct val="80000"/>
              <a:buFont typeface="Wingdings 3" charset="2"/>
              <a:buChar char=""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The Strategy: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Tuned a clear, transparent model to prioritize finding at-risk accounts, setting our risk threshold at </a:t>
            </a:r>
            <a:r>
              <a:rPr kumimoji="0" lang="en-US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0.42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to lock in </a:t>
            </a:r>
            <a:r>
              <a:rPr kumimoji="0" lang="en-US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85% recall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ea typeface="+mn-ea"/>
                <a:cs typeface="+mn-cs"/>
              </a:rPr>
              <a:t>(capturing 85% of vulnerable subscribers).</a:t>
            </a:r>
            <a:endParaRPr lang="en-US" b="0" u="none" strike="noStrike" dirty="0">
              <a:effectLst/>
            </a:endParaRPr>
          </a:p>
          <a:p>
            <a:pPr>
              <a:lnSpc>
                <a:spcPct val="90000"/>
              </a:lnSpc>
            </a:pPr>
            <a:r>
              <a:rPr lang="en-US" b="1" u="none" strike="noStrike">
                <a:effectLst/>
              </a:rPr>
              <a:t>Key Discovery:</a:t>
            </a:r>
            <a:r>
              <a:rPr lang="en-US" b="0" u="none" strike="noStrike">
                <a:effectLst/>
              </a:rPr>
              <a:t> Fiber optic lines are our highest risk area. </a:t>
            </a:r>
            <a:r>
              <a:rPr lang="en-US" b="1" u="none" strike="noStrike">
                <a:effectLst/>
              </a:rPr>
              <a:t>While poor signal stability does not directly cause customer loss on its own, it acts as a secondary trigger that pushes frustrated premium subscribers to cancel.</a:t>
            </a:r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64FA5DFF-7FE6-4855-84E6-DFA78EE978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371012" y="0"/>
            <a:ext cx="1219200" cy="6858000"/>
          </a:xfrm>
          <a:prstGeom prst="line">
            <a:avLst/>
          </a:prstGeom>
          <a:ln w="952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AFD8CBA-54A3-4363-991B-B9C631BBF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425267" y="3681413"/>
            <a:ext cx="4763558" cy="3176587"/>
          </a:xfrm>
          <a:prstGeom prst="line">
            <a:avLst/>
          </a:prstGeom>
          <a:ln w="952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23">
            <a:extLst>
              <a:ext uri="{FF2B5EF4-FFF2-40B4-BE49-F238E27FC236}">
                <a16:creationId xmlns:a16="http://schemas.microsoft.com/office/drawing/2014/main" id="{3F088236-D655-4F88-B238-E167623580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81476" y="-8467"/>
            <a:ext cx="3007349" cy="6866467"/>
          </a:xfrm>
          <a:custGeom>
            <a:avLst/>
            <a:gdLst/>
            <a:ahLst/>
            <a:cxnLst/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7" name="Rectangle 25">
            <a:extLst>
              <a:ext uri="{FF2B5EF4-FFF2-40B4-BE49-F238E27FC236}">
                <a16:creationId xmlns:a16="http://schemas.microsoft.com/office/drawing/2014/main" id="{3DAC0C92-199E-475C-9390-119A9B027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03442" y="-8467"/>
            <a:ext cx="2588558" cy="6866467"/>
          </a:xfrm>
          <a:custGeom>
            <a:avLst/>
            <a:gdLst/>
            <a:ahLst/>
            <a:cxnLst/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9" name="Isosceles Triangle 24">
            <a:extLst>
              <a:ext uri="{FF2B5EF4-FFF2-40B4-BE49-F238E27FC236}">
                <a16:creationId xmlns:a16="http://schemas.microsoft.com/office/drawing/2014/main" id="{C4CFB339-0ED8-4FE2-9EF1-6D1375B8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32333" y="3048000"/>
            <a:ext cx="3259667" cy="3810000"/>
          </a:xfrm>
          <a:prstGeom prst="triangle">
            <a:avLst>
              <a:gd name="adj" fmla="val 100000"/>
            </a:avLst>
          </a:pr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1" name="Rectangle 27">
            <a:extLst>
              <a:ext uri="{FF2B5EF4-FFF2-40B4-BE49-F238E27FC236}">
                <a16:creationId xmlns:a16="http://schemas.microsoft.com/office/drawing/2014/main" id="{31896C80-2069-4431-9C19-83B913734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34500" y="-8467"/>
            <a:ext cx="2854326" cy="6866467"/>
          </a:xfrm>
          <a:custGeom>
            <a:avLst/>
            <a:gdLst/>
            <a:ahLst/>
            <a:cxnLst/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47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3" name="Rectangle 28">
            <a:extLst>
              <a:ext uri="{FF2B5EF4-FFF2-40B4-BE49-F238E27FC236}">
                <a16:creationId xmlns:a16="http://schemas.microsoft.com/office/drawing/2014/main" id="{BF120A21-0841-4823-B0C4-28AEBCEF9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98730" y="-8467"/>
            <a:ext cx="1290094" cy="6866467"/>
          </a:xfrm>
          <a:custGeom>
            <a:avLst/>
            <a:gdLst/>
            <a:ahLst/>
            <a:cxnLst/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5" name="Rectangle 29">
            <a:extLst>
              <a:ext uri="{FF2B5EF4-FFF2-40B4-BE49-F238E27FC236}">
                <a16:creationId xmlns:a16="http://schemas.microsoft.com/office/drawing/2014/main" id="{DBB05BAE-BBD3-4289-899F-A6851503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38999" y="-8467"/>
            <a:ext cx="1249825" cy="6866467"/>
          </a:xfrm>
          <a:custGeom>
            <a:avLst/>
            <a:gdLst/>
            <a:ahLst/>
            <a:cxnLst/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7" name="Isosceles Triangle 29">
            <a:extLst>
              <a:ext uri="{FF2B5EF4-FFF2-40B4-BE49-F238E27FC236}">
                <a16:creationId xmlns:a16="http://schemas.microsoft.com/office/drawing/2014/main" id="{9874D11C-36F5-4BBE-A490-019A54E95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71666" y="3589867"/>
            <a:ext cx="1817159" cy="3268133"/>
          </a:xfrm>
          <a:prstGeom prst="triangle">
            <a:avLst>
              <a:gd name="adj" fmla="val 100000"/>
            </a:avLst>
          </a:pr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02004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1BD81-1965-6105-7FE9-B8B9A8D3A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9562" y="609600"/>
            <a:ext cx="8253240" cy="1320800"/>
          </a:xfrm>
        </p:spPr>
        <p:txBody>
          <a:bodyPr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3200" b="1"/>
              <a:t>Introduction &amp; Objectives</a:t>
            </a:r>
            <a:br>
              <a:rPr lang="en-US" sz="2300" b="1" dirty="0"/>
            </a:br>
            <a:r>
              <a:rPr lang="en-US" sz="2000" b="1"/>
              <a:t>(Using Network Quality and Financial Data to Eliminate Our Revenue Blind Spots)</a:t>
            </a:r>
            <a:endParaRPr lang="en-US"/>
          </a:p>
        </p:txBody>
      </p:sp>
      <p:sp>
        <p:nvSpPr>
          <p:cNvPr id="52" name="Isosceles Triangle 51">
            <a:extLst>
              <a:ext uri="{FF2B5EF4-FFF2-40B4-BE49-F238E27FC236}">
                <a16:creationId xmlns:a16="http://schemas.microsoft.com/office/drawing/2014/main" id="{462665EA-AABF-4427-A720-538234E60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" y="4036978"/>
            <a:ext cx="457200" cy="2811294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11" name="Picture 10" descr="Codes on papers">
            <a:extLst>
              <a:ext uri="{FF2B5EF4-FFF2-40B4-BE49-F238E27FC236}">
                <a16:creationId xmlns:a16="http://schemas.microsoft.com/office/drawing/2014/main" id="{3D2C0477-5FAD-4D26-AEA0-272C2FEAA7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821" r="32901" b="4875"/>
          <a:stretch>
            <a:fillRect/>
          </a:stretch>
        </p:blipFill>
        <p:spPr>
          <a:xfrm>
            <a:off x="20" y="10"/>
            <a:ext cx="2734036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461457" y="6858000"/>
                </a:lnTo>
                <a:lnTo>
                  <a:pt x="0" y="4134118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5BBFD-9F55-E51E-38B5-FB8D581EF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9562" y="2160589"/>
            <a:ext cx="6424440" cy="38807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dirty="0"/>
              <a:t>The Operational Gap:</a:t>
            </a:r>
            <a:r>
              <a:rPr lang="en-US" dirty="0"/>
              <a:t> Traditional tracking systems treat customer loss as a behavioral event based on past billing history, missing the physical infrastructure problems that trigger cancellations.</a:t>
            </a:r>
          </a:p>
          <a:p>
            <a:r>
              <a:rPr lang="en-US" b="1" dirty="0"/>
              <a:t>The Hybrid Approach:</a:t>
            </a:r>
            <a:r>
              <a:rPr lang="en-US" dirty="0"/>
              <a:t> Combines standard corporate financial data with active network performance metrics (Signal Stability Index and Outage History Score) to understand the technical causes of customer loss.</a:t>
            </a:r>
          </a:p>
          <a:p>
            <a:r>
              <a:rPr lang="en-US" b="1" dirty="0"/>
              <a:t>The Modeling Goal:</a:t>
            </a:r>
            <a:r>
              <a:rPr lang="en-US" dirty="0"/>
              <a:t> Calibrated the model at a </a:t>
            </a:r>
            <a:r>
              <a:rPr lang="en-US" b="1" dirty="0"/>
              <a:t>0.4236 custom threshold</a:t>
            </a:r>
            <a:r>
              <a:rPr lang="en-US" dirty="0"/>
              <a:t> to achieve our strict business target of </a:t>
            </a:r>
            <a:r>
              <a:rPr lang="en-US" b="1" dirty="0"/>
              <a:t>85.0% Recall</a:t>
            </a:r>
            <a:r>
              <a:rPr lang="en-US" dirty="0"/>
              <a:t>, ensuring we identify the maximum volume of high-risk accounts early.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7738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F314E-1B67-F2F4-A9FB-64DD1FBAA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5247" y="609600"/>
            <a:ext cx="8479315" cy="95504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1"/>
              <a:t>Hybrid </a:t>
            </a:r>
            <a:r>
              <a:rPr lang="en-US" sz="3200" b="1" err="1"/>
              <a:t>Injection </a:t>
            </a:r>
            <a:r>
              <a:rPr lang="en-US" sz="3200" b="1"/>
              <a:t>&amp; Engineering</a:t>
            </a:r>
            <a:br>
              <a:rPr lang="en-US" sz="2500" b="1" dirty="0"/>
            </a:br>
            <a:r>
              <a:rPr lang="en-US" sz="2000" b="1"/>
              <a:t>(Combining Location-Based Performance Data with Account Records</a:t>
            </a:r>
            <a:r>
              <a:rPr lang="en-US" sz="2000"/>
              <a:t>)</a:t>
            </a:r>
          </a:p>
        </p:txBody>
      </p:sp>
      <p:pic>
        <p:nvPicPr>
          <p:cNvPr id="23" name="Picture 22" descr="Person pointing on a map">
            <a:extLst>
              <a:ext uri="{FF2B5EF4-FFF2-40B4-BE49-F238E27FC236}">
                <a16:creationId xmlns:a16="http://schemas.microsoft.com/office/drawing/2014/main" id="{EC1475FA-4174-A43C-E498-6F78713333D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 l="31958" r="43914" b="9090"/>
          <a:stretch>
            <a:fillRect/>
          </a:stretch>
        </p:blipFill>
        <p:spPr>
          <a:xfrm>
            <a:off x="20" y="10"/>
            <a:ext cx="2734036" cy="6876278"/>
          </a:xfrm>
          <a:custGeom>
            <a:avLst/>
            <a:gdLst/>
            <a:ahLst/>
            <a:cxnLst/>
            <a:rect l="l" t="t" r="r" b="b"/>
            <a:pathLst>
              <a:path w="2734056" h="6858000">
                <a:moveTo>
                  <a:pt x="0" y="0"/>
                </a:moveTo>
                <a:lnTo>
                  <a:pt x="1674254" y="0"/>
                </a:lnTo>
                <a:lnTo>
                  <a:pt x="2734056" y="6850199"/>
                </a:lnTo>
                <a:lnTo>
                  <a:pt x="2734056" y="6858000"/>
                </a:lnTo>
                <a:lnTo>
                  <a:pt x="842596" y="6858000"/>
                </a:lnTo>
                <a:lnTo>
                  <a:pt x="0" y="1191846"/>
                </a:lnTo>
                <a:close/>
              </a:path>
            </a:pathLst>
          </a:custGeom>
        </p:spPr>
      </p:pic>
      <p:sp>
        <p:nvSpPr>
          <p:cNvPr id="180" name="Isosceles Triangle 179">
            <a:extLst>
              <a:ext uri="{FF2B5EF4-FFF2-40B4-BE49-F238E27FC236}">
                <a16:creationId xmlns:a16="http://schemas.microsoft.com/office/drawing/2014/main" id="{68EE4C72-F2C4-48C0-A42A-6D8069047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1191846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C9DE8D-CEB9-6B3E-6FE0-37B26D96A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5247" y="1439229"/>
            <a:ext cx="8276115" cy="480533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b="0" u="none" strike="noStrike" dirty="0">
                <a:effectLst/>
              </a:rPr>
              <a:t> </a:t>
            </a:r>
            <a:r>
              <a:rPr lang="en-US" b="1"/>
              <a:t>The Foundation:</a:t>
            </a:r>
            <a:r>
              <a:rPr lang="en-US"/>
              <a:t> Built using an industry-standard dataset mapping </a:t>
            </a:r>
            <a:r>
              <a:rPr lang="en-US" b="1"/>
              <a:t>7,043 unique accounts</a:t>
            </a:r>
            <a:r>
              <a:rPr lang="en-US"/>
              <a:t> across </a:t>
            </a:r>
            <a:r>
              <a:rPr lang="en-US" b="1"/>
              <a:t>21 baseline characteristics</a:t>
            </a:r>
            <a:r>
              <a:rPr lang="en-US"/>
              <a:t> (demographics, billing tiers, and services).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b="1"/>
              <a:t>Location-Based Features:</a:t>
            </a:r>
            <a:r>
              <a:rPr lang="en-US"/>
              <a:t> Added three location-specific network indicators to capture physical infrastructure health:</a:t>
            </a:r>
            <a:endParaRPr lang="en-US" dirty="0"/>
          </a:p>
          <a:p>
            <a:pPr lvl="1">
              <a:lnSpc>
                <a:spcPct val="90000"/>
              </a:lnSpc>
            </a:pPr>
            <a:r>
              <a:rPr lang="en-US" sz="1800" b="1"/>
              <a:t>Signal Stability Index:</a:t>
            </a:r>
            <a:r>
              <a:rPr lang="en-US" sz="1800"/>
              <a:t> Tracks continuous local network reliability.</a:t>
            </a:r>
            <a:endParaRPr lang="en-US" sz="1800" dirty="0"/>
          </a:p>
          <a:p>
            <a:pPr lvl="1">
              <a:lnSpc>
                <a:spcPct val="90000"/>
              </a:lnSpc>
            </a:pPr>
            <a:r>
              <a:rPr lang="en-US" sz="1800" b="1"/>
              <a:t>Outage History Score:</a:t>
            </a:r>
            <a:r>
              <a:rPr lang="en-US" sz="1800"/>
              <a:t> Measures the frequency of short-term service drops in the area.</a:t>
            </a:r>
            <a:endParaRPr lang="en-US" sz="1800" dirty="0"/>
          </a:p>
          <a:p>
            <a:pPr lvl="1">
              <a:lnSpc>
                <a:spcPct val="90000"/>
              </a:lnSpc>
            </a:pPr>
            <a:r>
              <a:rPr lang="en-US" sz="1800" b="1"/>
              <a:t>Competitor Exposure:</a:t>
            </a:r>
            <a:r>
              <a:rPr lang="en-US" sz="1800"/>
              <a:t> Tracks whether rival providers are actively target-marketing in high-risk zones.</a:t>
            </a:r>
            <a:endParaRPr lang="en-US" sz="1800" dirty="0"/>
          </a:p>
          <a:p>
            <a:pPr>
              <a:lnSpc>
                <a:spcPct val="90000"/>
              </a:lnSpc>
            </a:pPr>
            <a:r>
              <a:rPr lang="en-US" b="1"/>
              <a:t>Data Refinement:</a:t>
            </a:r>
            <a:r>
              <a:rPr lang="en-US"/>
              <a:t> Added controlled mathematical noise to the signal stability metric. This ensures the model learns broad data patterns rather than memorizing fixed regional averages.</a:t>
            </a:r>
            <a:endParaRPr lang="en-US" dirty="0"/>
          </a:p>
          <a:p>
            <a:pPr>
              <a:lnSpc>
                <a:spcPct val="90000"/>
              </a:lnSpc>
            </a:pPr>
            <a:r>
              <a:rPr lang="en-US" b="1" dirty="0"/>
              <a:t>The Test Environment (ZIP 98104):</a:t>
            </a:r>
            <a:r>
              <a:rPr lang="en-US" dirty="0"/>
              <a:t> Designated this specific area as a high-stress "Trouble Zone" to explicitly evaluate how regional technical friction impacts customer cancellations.</a:t>
            </a:r>
            <a:endParaRPr lang="en-US" b="0" u="none" strike="noStrike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34857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2850F-8B5A-47C9-126A-20EADB6D4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78568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Exploratory Data Analysis (EDA)</a:t>
            </a:r>
            <a:br>
              <a:rPr lang="en-US" b="1" dirty="0"/>
            </a:br>
            <a:r>
              <a:rPr lang="en-US" sz="1800" b="1" dirty="0"/>
              <a:t>(The Macro Baseline)</a:t>
            </a: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CFDAC-B473-7BA4-3C7B-17858A4C8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1588168"/>
            <a:ext cx="9609667" cy="203734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📌 </a:t>
            </a:r>
            <a:r>
              <a:rPr lang="en-US" sz="1400" b="1" dirty="0"/>
              <a:t>Key Insights:</a:t>
            </a:r>
            <a:endParaRPr lang="en-US" sz="1400" dirty="0"/>
          </a:p>
          <a:p>
            <a:pPr lvl="1"/>
            <a:r>
              <a:rPr lang="en-US" sz="1400" b="1" dirty="0"/>
              <a:t>Early-Stage Vulnerability Window:</a:t>
            </a:r>
            <a:r>
              <a:rPr lang="en-US" sz="1400" dirty="0"/>
              <a:t> 75% of all departing subscribers cancel their service within their first 30 months of activation, identifying a critical onboarding and early-lifecycle risk zone.</a:t>
            </a:r>
          </a:p>
          <a:p>
            <a:pPr lvl="1"/>
            <a:r>
              <a:rPr lang="en-US" sz="1400" b="1" dirty="0"/>
              <a:t>The Premium Friction Point:</a:t>
            </a:r>
            <a:r>
              <a:rPr lang="en-US" sz="1400" dirty="0"/>
              <a:t> Risk does not rise at a steady, fixed rate; instead, customer loss peaks severely at </a:t>
            </a:r>
            <a:r>
              <a:rPr lang="en-US" sz="1400" b="1" dirty="0"/>
              <a:t>37.8%</a:t>
            </a:r>
            <a:r>
              <a:rPr lang="en-US" sz="1400" dirty="0"/>
              <a:t> within the </a:t>
            </a:r>
            <a:r>
              <a:rPr lang="en-US" sz="1400" b="1" dirty="0"/>
              <a:t>$70–$100 premium consumer bracket</a:t>
            </a:r>
            <a:r>
              <a:rPr lang="en-US" sz="1400" dirty="0"/>
              <a:t>.</a:t>
            </a:r>
          </a:p>
          <a:p>
            <a:pPr lvl="1"/>
            <a:r>
              <a:rPr lang="en-US" sz="1400" b="1" dirty="0"/>
              <a:t>Strategic Indicator:</a:t>
            </a:r>
            <a:r>
              <a:rPr lang="en-US" sz="1400" dirty="0"/>
              <a:t> High-value premium users maintain strict service-quality expectations. If the physical network's quality fails to justify this higher monthly expense, subscribers rapidly cancel their accounts.</a:t>
            </a:r>
            <a:endParaRPr lang="en-US" sz="1400" b="0" u="none" strike="noStrike" dirty="0">
              <a:effectLst/>
              <a:latin typeface="Google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2154AE-469D-1F07-5557-5EF8CE0CF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3" y="3769895"/>
            <a:ext cx="4457210" cy="24785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3349F4-BAD2-6C5A-C560-39695DDB7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176" y="3769895"/>
            <a:ext cx="4908550" cy="24785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9468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7D011-B742-065D-0D36-1A5DEB1A7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1"/>
            <a:ext cx="8596668" cy="926592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Exploratory Data Analysis (EDA)</a:t>
            </a:r>
            <a:br>
              <a:rPr lang="en-US" b="1" dirty="0"/>
            </a:br>
            <a:r>
              <a:rPr lang="en-US" sz="1800" b="1" dirty="0"/>
              <a:t>(Regional Baselines vs. Technical Signals)</a:t>
            </a: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1CCC0-CAD9-0ABC-CC23-1095F56AE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54" y="1536194"/>
            <a:ext cx="10799188" cy="245681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📌 </a:t>
            </a:r>
            <a:r>
              <a:rPr lang="en-US" sz="1400" b="1" dirty="0"/>
              <a:t>Key Insights:</a:t>
            </a:r>
            <a:endParaRPr lang="en-US" sz="1400" dirty="0"/>
          </a:p>
          <a:p>
            <a:pPr lvl="1"/>
            <a:r>
              <a:rPr lang="en-US" sz="1400" b="1" dirty="0"/>
              <a:t>The Regional Baseline:</a:t>
            </a:r>
            <a:r>
              <a:rPr lang="en-US" sz="1400" dirty="0"/>
              <a:t> High-level geography shows a remarkably uniform risk across all five postal zones, hovering tightly between </a:t>
            </a:r>
            <a:r>
              <a:rPr lang="en-US" sz="1400" b="1" dirty="0"/>
              <a:t>25.5% and 28.1%</a:t>
            </a:r>
            <a:r>
              <a:rPr lang="en-US" sz="1400" dirty="0"/>
              <a:t>. Broad regional boundaries alone cannot tell us why customers leave.</a:t>
            </a:r>
          </a:p>
          <a:p>
            <a:pPr lvl="1"/>
            <a:r>
              <a:rPr lang="en-US" sz="1400" b="1" dirty="0"/>
              <a:t>The Telemetry Reality:</a:t>
            </a:r>
            <a:r>
              <a:rPr lang="en-US" sz="1400" dirty="0"/>
              <a:t> Zooming into network performance reveals that customer loss does not rise steadily as signal drops. Instead, risk remains mostly flat (</a:t>
            </a:r>
            <a:r>
              <a:rPr lang="en-US" sz="1400" b="1" dirty="0"/>
              <a:t>25%–27%</a:t>
            </a:r>
            <a:r>
              <a:rPr lang="en-US" sz="1400" dirty="0"/>
              <a:t>) across almost all performance levels, with an isolated spike to </a:t>
            </a:r>
            <a:r>
              <a:rPr lang="en-US" sz="1400" b="1" dirty="0"/>
              <a:t>~32%</a:t>
            </a:r>
            <a:r>
              <a:rPr lang="en-US" sz="1400" dirty="0"/>
              <a:t> at the 0.6 threshold.</a:t>
            </a:r>
          </a:p>
          <a:p>
            <a:pPr lvl="1"/>
            <a:r>
              <a:rPr lang="en-US" sz="1400" b="1" dirty="0"/>
              <a:t>The Contract Safety Net:</a:t>
            </a:r>
            <a:r>
              <a:rPr lang="en-US" sz="1400" dirty="0"/>
              <a:t> Severe signal degradation does not trigger an immediate cancellation. This proves that network drops alone do not drive churn; instead, long-term contracts act as a legal cushion that holds frustrated customers in place temporarily.</a:t>
            </a:r>
            <a:endParaRPr lang="en-US" sz="1400" b="0" u="none" strike="noStrike" dirty="0">
              <a:effectLst/>
              <a:latin typeface="Google San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A91DC0-A616-BD45-3EAF-C45926168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4032718"/>
            <a:ext cx="4756150" cy="24568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F09BD3B-80B3-1F09-F119-4AE3945FA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878" y="4032718"/>
            <a:ext cx="4768850" cy="24688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5062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A19EE-B57E-6366-AC9C-04511BA0E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E08E3-1CDF-08C2-E643-B168EC718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71991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Exploratory Data Analysis (EDA)</a:t>
            </a:r>
            <a:br>
              <a:rPr lang="en-US" b="1" dirty="0"/>
            </a:br>
            <a:r>
              <a:rPr lang="en-US" sz="1800" b="1" dirty="0"/>
              <a:t>(Product Ecosystem &amp; Account Constraints)</a:t>
            </a:r>
            <a:endParaRPr lang="en-US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7C0AA-54BD-3401-C144-F76BAE93F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53" y="1499616"/>
            <a:ext cx="11200241" cy="224028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dirty="0"/>
              <a:t>📌 </a:t>
            </a:r>
            <a:r>
              <a:rPr lang="en-US" sz="1400" b="1" dirty="0"/>
              <a:t>Key Insights</a:t>
            </a:r>
            <a:r>
              <a:rPr lang="en-US" sz="1400" dirty="0"/>
              <a:t>:</a:t>
            </a:r>
          </a:p>
          <a:p>
            <a:pPr lvl="1"/>
            <a:r>
              <a:rPr lang="en-US" sz="1400" b="1" dirty="0"/>
              <a:t>The Fiber Optic Paradox:</a:t>
            </a:r>
            <a:r>
              <a:rPr lang="en-US" sz="1400" dirty="0"/>
              <a:t> Premium fiber plans require our highest capital investment to build but suffer an alarming </a:t>
            </a:r>
            <a:r>
              <a:rPr lang="en-US" sz="1400" b="1" dirty="0"/>
              <a:t>41.9% customer loss rate</a:t>
            </a:r>
            <a:r>
              <a:rPr lang="en-US" sz="1400" dirty="0"/>
              <a:t>—more than double that of legacy copper DSL (</a:t>
            </a:r>
            <a:r>
              <a:rPr lang="en-US" sz="1400" b="1" dirty="0"/>
              <a:t>19.0%</a:t>
            </a:r>
            <a:r>
              <a:rPr lang="en-US" sz="1400" dirty="0"/>
              <a:t>).</a:t>
            </a:r>
          </a:p>
          <a:p>
            <a:pPr lvl="1"/>
            <a:r>
              <a:rPr lang="en-US" sz="1400" b="1" dirty="0"/>
              <a:t>The Legal Protection Net:</a:t>
            </a:r>
            <a:r>
              <a:rPr lang="en-US" sz="1400" dirty="0"/>
              <a:t> Two-year contract agreements act as a highly effective operational cushion. These long-term loyalty commitments temporarily anchor subscribers to our network, even when they experience severe signal drops.</a:t>
            </a:r>
          </a:p>
          <a:p>
            <a:pPr lvl="1"/>
            <a:r>
              <a:rPr lang="en-US" sz="1400" b="1" dirty="0"/>
              <a:t>The Hidden Risk:</a:t>
            </a:r>
            <a:r>
              <a:rPr lang="en-US" sz="1400" dirty="0"/>
              <a:t> While long-term contracts secure immediate revenue, they can mask underlying network frustration. If these technical signal issues are not proactively fixed before the terms expire, these premium segments represent a high risk for future cancellation.</a:t>
            </a:r>
            <a:br>
              <a:rPr lang="en-US" sz="1400" dirty="0"/>
            </a:b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4F3233-D678-6CE4-5F5F-A8CE92B9B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453" y="3739896"/>
            <a:ext cx="4771390" cy="25085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CCDE621-215C-9947-5129-511B2F0232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309" y="3739896"/>
            <a:ext cx="4764505" cy="25085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71914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71F8A-931E-7F24-2AEA-044A1AD27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1A456-C8F9-2879-7308-A9E70C33A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10552140" cy="9384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Exploratory Data Analysis (EDA)</a:t>
            </a:r>
            <a:br>
              <a:rPr lang="en-US" b="1" dirty="0"/>
            </a:br>
            <a:r>
              <a:rPr lang="en-US" sz="2000" b="1" dirty="0"/>
              <a:t>(Product Ecosystem – Downstream Value-Added Asset Performance)</a:t>
            </a: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B5E39-3A00-E9DA-E6C9-7612121EC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454" y="1965960"/>
            <a:ext cx="5705178" cy="337921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dirty="0"/>
              <a:t>📌 </a:t>
            </a:r>
            <a:r>
              <a:rPr lang="en-US" sz="1400" b="1" dirty="0"/>
              <a:t>Key Insights:</a:t>
            </a:r>
            <a:endParaRPr lang="en-US" sz="1400" dirty="0"/>
          </a:p>
          <a:p>
            <a:pPr lvl="1"/>
            <a:r>
              <a:rPr lang="en-US" sz="1400" b="1" dirty="0"/>
              <a:t>Minor Retention Impact:</a:t>
            </a:r>
            <a:r>
              <a:rPr lang="en-US" sz="1400" dirty="0"/>
              <a:t> Internet subscribers who do not use Streaming TV have a </a:t>
            </a:r>
            <a:r>
              <a:rPr lang="en-US" sz="1400" b="1" dirty="0"/>
              <a:t>33.5%</a:t>
            </a:r>
            <a:r>
              <a:rPr lang="en-US" sz="1400" dirty="0"/>
              <a:t> churn rate, while those who add the service drop slightly to </a:t>
            </a:r>
            <a:r>
              <a:rPr lang="en-US" sz="1400" b="1" dirty="0"/>
              <a:t>30.1%</a:t>
            </a:r>
            <a:r>
              <a:rPr lang="en-US" sz="1400" dirty="0"/>
              <a:t>.</a:t>
            </a:r>
          </a:p>
          <a:p>
            <a:pPr lvl="1"/>
            <a:r>
              <a:rPr lang="en-US" sz="1400" b="1" dirty="0"/>
              <a:t>Diminishing Returns:</a:t>
            </a:r>
            <a:r>
              <a:rPr lang="en-US" sz="1400" dirty="0"/>
              <a:t> Adding software features onto an existing account only provides a minor </a:t>
            </a:r>
            <a:r>
              <a:rPr lang="en-US" sz="1400" b="1" dirty="0"/>
              <a:t>3.4 percentage-point lift</a:t>
            </a:r>
            <a:r>
              <a:rPr lang="en-US" sz="1400" dirty="0"/>
              <a:t> in customer retention.</a:t>
            </a:r>
          </a:p>
          <a:p>
            <a:pPr lvl="1"/>
            <a:r>
              <a:rPr lang="en-US" sz="1400" b="1" dirty="0"/>
              <a:t>Strategic Takeaway:</a:t>
            </a:r>
            <a:r>
              <a:rPr lang="en-US" sz="1400" dirty="0"/>
              <a:t> Selling digital bundles to at-risk accounts yields a low return on investment if the underlying network connection remains unstable. Corporate resources are better spent stabilizing the physical infrastructure.</a:t>
            </a:r>
            <a:endParaRPr lang="en-US" sz="1400" b="0" u="none" strike="noStrike" dirty="0">
              <a:effectLst/>
              <a:latin typeface="Google Sans"/>
            </a:endParaRPr>
          </a:p>
          <a:p>
            <a:pPr marL="457200" lvl="1" indent="0">
              <a:buNone/>
            </a:pPr>
            <a:endParaRPr lang="en-US" sz="1400" b="0" u="none" strike="noStrike" dirty="0">
              <a:effectLst/>
              <a:latin typeface="Google San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67A98E-95A8-0FE7-A044-FF4F2B184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2154695"/>
            <a:ext cx="5040715" cy="34699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7087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F900-838D-910B-97C5-035BC1F19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115" y="609600"/>
            <a:ext cx="9459685" cy="887549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Preprocessing &amp; Model Tournament</a:t>
            </a:r>
            <a:br>
              <a:rPr lang="en-US" b="1" dirty="0"/>
            </a:br>
            <a:r>
              <a:rPr lang="en-US" sz="2000" b="1" dirty="0"/>
              <a:t>(Evaluating Options &amp; Finding Our Champion Architecture)</a:t>
            </a: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A75D6-0D99-E2C8-5DC8-BB5140B8A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115" y="1710509"/>
            <a:ext cx="11083948" cy="284625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dirty="0"/>
              <a:t>📌 </a:t>
            </a:r>
            <a:r>
              <a:rPr lang="en-US" sz="1400" b="1" dirty="0"/>
              <a:t>Key Insights:</a:t>
            </a:r>
            <a:endParaRPr lang="en-US" sz="1400" dirty="0"/>
          </a:p>
          <a:p>
            <a:pPr lvl="1"/>
            <a:r>
              <a:rPr lang="en-US" sz="1400" b="1" dirty="0"/>
              <a:t>Leakage Prevention:</a:t>
            </a:r>
            <a:r>
              <a:rPr lang="en-US" sz="1400" dirty="0"/>
              <a:t> Completely separated all customer outcome identifiers from our tracking variables before running any math. This ensures our model mimics a true, unbiased business environment.</a:t>
            </a:r>
          </a:p>
          <a:p>
            <a:pPr lvl="1"/>
            <a:r>
              <a:rPr lang="en-US" sz="1400" b="1" dirty="0"/>
              <a:t>Standardizing Data Columns:</a:t>
            </a:r>
            <a:r>
              <a:rPr lang="en-US" sz="1400" dirty="0"/>
              <a:t> Processed all customer categories into numerical indicators, creating a clean, uniform matrix of </a:t>
            </a:r>
            <a:r>
              <a:rPr lang="en-US" sz="1400" b="1" dirty="0"/>
              <a:t>36 distinct indicators</a:t>
            </a:r>
            <a:r>
              <a:rPr lang="en-US" sz="1400" dirty="0"/>
              <a:t> to evaluate behaviors.</a:t>
            </a:r>
          </a:p>
          <a:p>
            <a:pPr lvl="1"/>
            <a:r>
              <a:rPr lang="en-US" sz="1400" b="1" dirty="0"/>
              <a:t>The Strategic Trade-Off:</a:t>
            </a:r>
            <a:r>
              <a:rPr lang="en-US" sz="1400" dirty="0"/>
              <a:t> While the Gradient Boosting model scored a tiny fraction higher (0.8461 AUC), we deliberately chose </a:t>
            </a:r>
            <a:r>
              <a:rPr lang="en-US" sz="1400" b="1" dirty="0"/>
              <a:t>Logistic Regression</a:t>
            </a:r>
            <a:r>
              <a:rPr lang="en-US" sz="1400" dirty="0"/>
              <a:t> (0.8449 AUC) as our champion.</a:t>
            </a:r>
          </a:p>
          <a:p>
            <a:pPr lvl="1"/>
            <a:r>
              <a:rPr lang="en-US" sz="1400" b="1" dirty="0"/>
              <a:t>Why Transparency Matters:</a:t>
            </a:r>
            <a:r>
              <a:rPr lang="en-US" sz="1400" dirty="0"/>
              <a:t> A 0.12% accuracy gain is not worth deploying an uninterpretable "black-box" system. Logistic Regression provides completely transparent weights that allow our engineering, supply chain, and marketing teams to trace risk directly to specific infrastructure issues or contracts.</a:t>
            </a:r>
            <a:br>
              <a:rPr lang="en-US" sz="1400" dirty="0"/>
            </a:br>
            <a:endParaRPr lang="en-US" sz="1400" dirty="0"/>
          </a:p>
          <a:p>
            <a:pPr marL="457200" lvl="1" indent="0">
              <a:buNone/>
            </a:pPr>
            <a:endParaRPr lang="en-US" sz="14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1ADC97-15C5-F4A1-0D08-A57CA82ACC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032030"/>
              </p:ext>
            </p:extLst>
          </p:nvPr>
        </p:nvGraphicFramePr>
        <p:xfrm>
          <a:off x="721896" y="4636008"/>
          <a:ext cx="10397208" cy="18301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81055">
                  <a:extLst>
                    <a:ext uri="{9D8B030D-6E8A-4147-A177-3AD203B41FA5}">
                      <a16:colId xmlns:a16="http://schemas.microsoft.com/office/drawing/2014/main" val="2693412004"/>
                    </a:ext>
                  </a:extLst>
                </a:gridCol>
                <a:gridCol w="2294943">
                  <a:extLst>
                    <a:ext uri="{9D8B030D-6E8A-4147-A177-3AD203B41FA5}">
                      <a16:colId xmlns:a16="http://schemas.microsoft.com/office/drawing/2014/main" val="152601066"/>
                    </a:ext>
                  </a:extLst>
                </a:gridCol>
                <a:gridCol w="1646933">
                  <a:extLst>
                    <a:ext uri="{9D8B030D-6E8A-4147-A177-3AD203B41FA5}">
                      <a16:colId xmlns:a16="http://schemas.microsoft.com/office/drawing/2014/main" val="719419659"/>
                    </a:ext>
                  </a:extLst>
                </a:gridCol>
                <a:gridCol w="5074277">
                  <a:extLst>
                    <a:ext uri="{9D8B030D-6E8A-4147-A177-3AD203B41FA5}">
                      <a16:colId xmlns:a16="http://schemas.microsoft.com/office/drawing/2014/main" val="458162505"/>
                    </a:ext>
                  </a:extLst>
                </a:gridCol>
              </a:tblGrid>
              <a:tr h="36161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bg1"/>
                          </a:solidFill>
                          <a:effectLst/>
                        </a:rPr>
                        <a:t>Model</a:t>
                      </a:r>
                      <a:endParaRPr lang="en-US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chemeClr val="bg1"/>
                          </a:solidFill>
                          <a:effectLst/>
                        </a:rPr>
                        <a:t>Hyperparameters</a:t>
                      </a:r>
                      <a:endParaRPr lang="en-US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bg1"/>
                          </a:solidFill>
                          <a:effectLst/>
                        </a:rPr>
                        <a:t>Mean ROC-AUC (CV)</a:t>
                      </a:r>
                      <a:endParaRPr lang="en-US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bg1"/>
                          </a:solidFill>
                          <a:effectLst/>
                        </a:rPr>
                        <a:t>Strategic Rationale and Status</a:t>
                      </a:r>
                      <a:endParaRPr lang="en-US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96975082"/>
                  </a:ext>
                </a:extLst>
              </a:tr>
              <a:tr h="55214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chemeClr val="bg1"/>
                          </a:solidFill>
                          <a:effectLst/>
                        </a:rPr>
                        <a:t>Logistic Regression</a:t>
                      </a:r>
                      <a:endParaRPr lang="en-US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bg1"/>
                          </a:solidFill>
                          <a:effectLst/>
                        </a:rPr>
                        <a:t>penalty: </a:t>
                      </a:r>
                      <a:r>
                        <a:rPr lang="en-US" sz="1100" kern="100" dirty="0" err="1">
                          <a:solidFill>
                            <a:schemeClr val="bg1"/>
                          </a:solidFill>
                          <a:effectLst/>
                        </a:rPr>
                        <a:t>elasticnet</a:t>
                      </a:r>
                      <a:r>
                        <a:rPr lang="en-US" sz="1100" kern="100" dirty="0">
                          <a:solidFill>
                            <a:schemeClr val="bg1"/>
                          </a:solidFill>
                          <a:effectLst/>
                        </a:rPr>
                        <a:t>, C:10, L1_ratio : 1.0</a:t>
                      </a:r>
                      <a:endParaRPr lang="en-US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chemeClr val="bg1"/>
                          </a:solidFill>
                          <a:effectLst/>
                        </a:rPr>
                        <a:t>0.8449</a:t>
                      </a:r>
                      <a:endParaRPr lang="en-US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bg1"/>
                          </a:solidFill>
                          <a:effectLst/>
                        </a:rPr>
                        <a:t>Selected Champion: Offers the best balance of clear business transparency and strong predictive power.</a:t>
                      </a:r>
                      <a:endParaRPr lang="en-US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26014357"/>
                  </a:ext>
                </a:extLst>
              </a:tr>
              <a:tr h="43917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chemeClr val="bg1"/>
                          </a:solidFill>
                          <a:effectLst/>
                        </a:rPr>
                        <a:t>Gradient Boosting </a:t>
                      </a:r>
                      <a:endParaRPr lang="en-US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 err="1">
                          <a:solidFill>
                            <a:schemeClr val="bg1"/>
                          </a:solidFill>
                          <a:effectLst/>
                        </a:rPr>
                        <a:t>n_estimators</a:t>
                      </a:r>
                      <a:r>
                        <a:rPr lang="en-US" sz="1100" kern="100" dirty="0">
                          <a:solidFill>
                            <a:schemeClr val="bg1"/>
                          </a:solidFill>
                          <a:effectLst/>
                        </a:rPr>
                        <a:t>: 100, </a:t>
                      </a:r>
                      <a:r>
                        <a:rPr lang="en-US" sz="1100" kern="100" dirty="0" err="1">
                          <a:solidFill>
                            <a:schemeClr val="bg1"/>
                          </a:solidFill>
                          <a:effectLst/>
                        </a:rPr>
                        <a:t>learning_rate</a:t>
                      </a:r>
                      <a:r>
                        <a:rPr lang="en-US" sz="1100" kern="100" dirty="0">
                          <a:solidFill>
                            <a:schemeClr val="bg1"/>
                          </a:solidFill>
                          <a:effectLst/>
                        </a:rPr>
                        <a:t>: 0.1</a:t>
                      </a:r>
                      <a:endParaRPr lang="en-US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chemeClr val="bg1"/>
                          </a:solidFill>
                          <a:effectLst/>
                        </a:rPr>
                        <a:t>0.8461</a:t>
                      </a:r>
                      <a:endParaRPr lang="en-US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bg1"/>
                          </a:solidFill>
                          <a:effectLst/>
                        </a:rPr>
                        <a:t>Baseline Benchmark: The highest raw score but maintained for architectural risk comparison.</a:t>
                      </a:r>
                      <a:endParaRPr lang="en-US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6840848"/>
                  </a:ext>
                </a:extLst>
              </a:tr>
              <a:tr h="43917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chemeClr val="bg1"/>
                          </a:solidFill>
                          <a:effectLst/>
                        </a:rPr>
                        <a:t> Random Forest</a:t>
                      </a:r>
                      <a:endParaRPr lang="en-US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 err="1">
                          <a:solidFill>
                            <a:schemeClr val="bg1"/>
                          </a:solidFill>
                          <a:effectLst/>
                        </a:rPr>
                        <a:t>n_estimators</a:t>
                      </a:r>
                      <a:r>
                        <a:rPr lang="en-US" sz="1100" kern="100" dirty="0">
                          <a:solidFill>
                            <a:schemeClr val="bg1"/>
                          </a:solidFill>
                          <a:effectLst/>
                        </a:rPr>
                        <a:t>: 200, </a:t>
                      </a:r>
                      <a:r>
                        <a:rPr lang="en-US" sz="1100" kern="100" dirty="0" err="1">
                          <a:solidFill>
                            <a:schemeClr val="bg1"/>
                          </a:solidFill>
                          <a:effectLst/>
                        </a:rPr>
                        <a:t>max_depth</a:t>
                      </a:r>
                      <a:r>
                        <a:rPr lang="en-US" sz="1100" kern="100" dirty="0">
                          <a:solidFill>
                            <a:schemeClr val="bg1"/>
                          </a:solidFill>
                          <a:effectLst/>
                        </a:rPr>
                        <a:t>: 10</a:t>
                      </a:r>
                      <a:endParaRPr lang="en-US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solidFill>
                            <a:schemeClr val="bg1"/>
                          </a:solidFill>
                          <a:effectLst/>
                        </a:rPr>
                        <a:t>0.8295</a:t>
                      </a:r>
                      <a:endParaRPr lang="en-US" sz="1200" kern="10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chemeClr val="bg1"/>
                          </a:solidFill>
                          <a:effectLst/>
                        </a:rPr>
                        <a:t>Lowest raw score but used for comparison.</a:t>
                      </a:r>
                      <a:endParaRPr lang="en-US" sz="1200" kern="100" dirty="0">
                        <a:solidFill>
                          <a:schemeClr val="bg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40194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703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D96BA-5EB4-4A5F-A2A6-1047AF4C5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9286578" cy="860392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b="1" dirty="0"/>
              <a:t>Model Performance &amp; Decision Threshold</a:t>
            </a:r>
            <a:br>
              <a:rPr lang="en-US" b="1" dirty="0"/>
            </a:br>
            <a:r>
              <a:rPr lang="en-US" sz="2000" b="1" dirty="0"/>
              <a:t>(Setting the 0.42 Risk Threshold to Catch 85% of At-Risk Account)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FDBCA-A36A-EB65-3890-6F0DD0B2F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72130"/>
            <a:ext cx="10862822" cy="252379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dirty="0"/>
              <a:t>📌 </a:t>
            </a:r>
            <a:r>
              <a:rPr lang="en-US" sz="1400" b="1" dirty="0"/>
              <a:t>Key Insights:</a:t>
            </a:r>
            <a:endParaRPr lang="en-US" sz="1400" b="1" u="none" strike="noStrike">
              <a:effectLst/>
              <a:latin typeface="Google Sans"/>
            </a:endParaRPr>
          </a:p>
          <a:p>
            <a:pPr lvl="1">
              <a:lnSpc>
                <a:spcPct val="90000"/>
              </a:lnSpc>
            </a:pPr>
            <a:r>
              <a:rPr lang="en-US" sz="1400" b="1" dirty="0"/>
              <a:t>Strong Predictive Accuracy:</a:t>
            </a:r>
            <a:r>
              <a:rPr lang="en-US" sz="1400" dirty="0"/>
              <a:t> The model achieved a robust </a:t>
            </a:r>
            <a:r>
              <a:rPr lang="en-US" sz="1400" b="1" dirty="0"/>
              <a:t>0.8410 Area Under the Curve (AUC)</a:t>
            </a:r>
            <a:r>
              <a:rPr lang="en-US" sz="1400" dirty="0"/>
              <a:t> score. This high metric proves the model has strong predictive reliability, successfully separating high-risk customer profiles from stable baseline subscribers.</a:t>
            </a:r>
          </a:p>
          <a:p>
            <a:pPr lvl="1">
              <a:lnSpc>
                <a:spcPct val="90000"/>
              </a:lnSpc>
            </a:pPr>
            <a:r>
              <a:rPr lang="en-US" sz="1400" b="1" dirty="0"/>
              <a:t>Calibrating the Risk Threshold:</a:t>
            </a:r>
            <a:r>
              <a:rPr lang="en-US" sz="1400" dirty="0"/>
              <a:t> We intentionally moved our decision threshold down to a </a:t>
            </a:r>
            <a:r>
              <a:rPr lang="en-US" sz="1400" b="1" dirty="0"/>
              <a:t>0.42 probability score</a:t>
            </a:r>
            <a:r>
              <a:rPr lang="en-US" sz="1400" dirty="0"/>
              <a:t> to optimize our safety coverage and capture vulnerable accounts early.</a:t>
            </a:r>
          </a:p>
          <a:p>
            <a:pPr lvl="1">
              <a:lnSpc>
                <a:spcPct val="90000"/>
              </a:lnSpc>
            </a:pPr>
            <a:r>
              <a:rPr lang="en-US" sz="1400" dirty="0"/>
              <a:t>The Defensive Business Trade-Off: This aggressive boundary holds our model's precision at 47.0% to guarantee that we successfully catch 85.0% of all at-risk accounts (Recall).</a:t>
            </a:r>
          </a:p>
          <a:p>
            <a:pPr lvl="1">
              <a:lnSpc>
                <a:spcPct val="90000"/>
              </a:lnSpc>
            </a:pPr>
            <a:r>
              <a:rPr lang="en-US" sz="1400" b="1" dirty="0"/>
              <a:t>Cost-Effective Security:</a:t>
            </a:r>
            <a:r>
              <a:rPr lang="en-US" sz="1400" dirty="0"/>
              <a:t> While a lower threshold increases false alarms, the minor operational expense of a proactive retention check is vastly lower than the steep cost of losing premium customer revenue.</a:t>
            </a:r>
            <a:endParaRPr lang="en-US" sz="1400" b="0" u="none" strike="noStrike">
              <a:effectLst/>
              <a:latin typeface="Google Sans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400" dirty="0">
              <a:latin typeface="Trebuchet MS (Body)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8B4844-1766-0C80-6B75-CDEF677BF0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6194" y="4191267"/>
            <a:ext cx="4957601" cy="22904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435640-4465-7DB0-0FC9-569CF60BB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4191267"/>
            <a:ext cx="4649470" cy="22904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06230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CCCCF-B78C-C793-E0F5-0E2590E65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CF844-6FB8-B44A-FBFF-3619581DB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1"/>
            <a:ext cx="10407762" cy="1054608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err="1"/>
              <a:t>Operational</a:t>
            </a:r>
            <a:r>
              <a:rPr lang="fr-FR" b="1" dirty="0"/>
              <a:t> Impact </a:t>
            </a:r>
            <a:br>
              <a:rPr lang="fr-FR" sz="4000" b="1" dirty="0"/>
            </a:br>
            <a:r>
              <a:rPr lang="fr-FR" sz="2000" b="1" dirty="0"/>
              <a:t>(Confusion Matrix Volume </a:t>
            </a:r>
            <a:r>
              <a:rPr lang="fr-FR" sz="2000" b="1" dirty="0" err="1"/>
              <a:t>Analysis</a:t>
            </a:r>
            <a:r>
              <a:rPr lang="fr-FR" sz="2000" b="1" dirty="0"/>
              <a:t>)</a:t>
            </a:r>
            <a:br>
              <a:rPr lang="fr-FR" b="1" dirty="0"/>
            </a:br>
            <a:endParaRPr lang="en-US" sz="27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FC469-F594-CFE8-E608-CBDC93D12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17040"/>
            <a:ext cx="5791538" cy="473862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dirty="0"/>
              <a:t>📌 </a:t>
            </a:r>
            <a:r>
              <a:rPr lang="en-US" sz="1400" b="1" dirty="0"/>
              <a:t>Key Insights:</a:t>
            </a:r>
            <a:endParaRPr lang="en-US" sz="1400" dirty="0"/>
          </a:p>
          <a:p>
            <a:pPr lvl="1"/>
            <a:r>
              <a:rPr lang="en-US" sz="1400" b="1" dirty="0"/>
              <a:t>318 Confirmed Saves (True Positives):</a:t>
            </a:r>
            <a:r>
              <a:rPr lang="en-US" sz="1400" dirty="0"/>
              <a:t> The model successfully identifies and flags 318 high-value subscribers before they leave, allowing customer success teams to deploy targeted retention offers early.</a:t>
            </a:r>
          </a:p>
          <a:p>
            <a:pPr lvl="1"/>
            <a:r>
              <a:rPr lang="en-US" sz="1400" b="1" dirty="0"/>
              <a:t>Tight 15% Miss Rate (False Negatives):</a:t>
            </a:r>
            <a:r>
              <a:rPr lang="en-US" sz="1400" dirty="0"/>
              <a:t> The system completely overlooks only 56 accounts out of the entire churning group. Keeping our blind spot down to a minor 15% rate minimizes sudden, unpredicted revenue losses.</a:t>
            </a:r>
          </a:p>
          <a:p>
            <a:pPr lvl="1"/>
            <a:r>
              <a:rPr lang="en-US" sz="1400" b="1" dirty="0"/>
              <a:t>358 False Alarms (False Positives):</a:t>
            </a:r>
            <a:r>
              <a:rPr lang="en-US" sz="1400" dirty="0"/>
              <a:t> The model flags 358 stable subscribers as risk profiles. While this introduces a small amount of extra outreach, sending a low-cost contract renewal incentive or automated signal check to a stable line is vastly cheaper than absorbing account replacement costs.</a:t>
            </a:r>
          </a:p>
          <a:p>
            <a:pPr lvl="1"/>
            <a:r>
              <a:rPr lang="en-US" sz="1400" b="1" dirty="0"/>
              <a:t>Protects the Core Business:</a:t>
            </a:r>
            <a:r>
              <a:rPr lang="en-US" sz="1400" dirty="0"/>
              <a:t> This structure ensures our retention resources are concentrated heavily on the highest-risk revenue brackets, moving the company away from costly, blanket discounting strategies.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725F29-05E9-E61E-F8E5-F4ABC8E65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712" y="2450595"/>
            <a:ext cx="4674954" cy="34001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739305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00FCA-0FB2-C129-AC45-1FBF1D6F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1"/>
            <a:ext cx="10391720" cy="944879"/>
          </a:xfrm>
        </p:spPr>
        <p:txBody>
          <a:bodyPr anchor="t">
            <a:normAutofit/>
          </a:bodyPr>
          <a:lstStyle/>
          <a:p>
            <a:pPr algn="ctr"/>
            <a:r>
              <a:rPr lang="en-US" sz="3200" b="1" dirty="0"/>
              <a:t>Key Risk Drivers &amp; Retention Anchor</a:t>
            </a:r>
            <a:br>
              <a:rPr lang="en-US" b="1" dirty="0"/>
            </a:br>
            <a:r>
              <a:rPr lang="en-US" sz="2000" b="1" dirty="0"/>
              <a:t>(Understanding What Triggers Cancellations vs. What Locks in Loyalty)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8423C-8751-7802-E8FB-717CC8FAE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572" y="1716024"/>
            <a:ext cx="6204276" cy="47551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📌 </a:t>
            </a:r>
            <a:r>
              <a:rPr lang="en-US" sz="1400" b="1" dirty="0"/>
              <a:t>Key Insights:</a:t>
            </a:r>
            <a:endParaRPr lang="en-US" sz="1400" dirty="0">
              <a:latin typeface="Trebuchet MS (Body)"/>
            </a:endParaRPr>
          </a:p>
          <a:p>
            <a:pPr lvl="1"/>
            <a:r>
              <a:rPr lang="en-US" sz="1400" b="1" dirty="0"/>
              <a:t>The Premium Infrastructure Friction Core:</a:t>
            </a:r>
            <a:r>
              <a:rPr lang="en-US" sz="1400" dirty="0"/>
              <a:t> Having a premium </a:t>
            </a:r>
            <a:r>
              <a:rPr lang="en-US" sz="1400" b="1" dirty="0"/>
              <a:t>Fiber Optic</a:t>
            </a:r>
            <a:r>
              <a:rPr lang="en-US" sz="1400" dirty="0"/>
              <a:t> plan is the single strongest predictor of customer cancellation across the entire model (</a:t>
            </a:r>
            <a:r>
              <a:rPr lang="en-US" sz="1400" b="1" dirty="0"/>
              <a:t>+2.709</a:t>
            </a:r>
            <a:r>
              <a:rPr lang="en-US" sz="1400" dirty="0"/>
              <a:t> value weight). High-paying subscribers react strongly to any performance friction.</a:t>
            </a:r>
          </a:p>
          <a:p>
            <a:pPr lvl="1"/>
            <a:r>
              <a:rPr lang="en-US" sz="1400" b="1" dirty="0"/>
              <a:t>The High-Value App Segment:</a:t>
            </a:r>
            <a:r>
              <a:rPr lang="en-US" sz="1400" dirty="0"/>
              <a:t> Heavy usage of digital products like streaming movies (</a:t>
            </a:r>
            <a:r>
              <a:rPr lang="en-US" sz="1400" b="1" dirty="0"/>
              <a:t>+0.977</a:t>
            </a:r>
            <a:r>
              <a:rPr lang="en-US" sz="1400" dirty="0"/>
              <a:t>) and streaming TV (</a:t>
            </a:r>
            <a:r>
              <a:rPr lang="en-US" sz="1400" b="1" dirty="0"/>
              <a:t>+0.949</a:t>
            </a:r>
            <a:r>
              <a:rPr lang="en-US" sz="1400" dirty="0"/>
              <a:t>) heavily accelerates customer risk when paired with premium billing tiers exceeding $100 per month (</a:t>
            </a:r>
            <a:r>
              <a:rPr lang="en-US" sz="1400" b="1" dirty="0"/>
              <a:t>+0.682</a:t>
            </a:r>
            <a:r>
              <a:rPr lang="en-US" sz="1400" dirty="0"/>
              <a:t>).</a:t>
            </a:r>
          </a:p>
          <a:p>
            <a:pPr lvl="1"/>
            <a:r>
              <a:rPr lang="en-US" sz="1400" b="1" dirty="0"/>
              <a:t>Our Strongest Defense Lines:</a:t>
            </a:r>
            <a:r>
              <a:rPr lang="en-US" sz="1400" dirty="0"/>
              <a:t> Long-term contractual commitments act as the business's most powerful defensive retention tool. A </a:t>
            </a:r>
            <a:r>
              <a:rPr lang="en-US" sz="1400" b="1" dirty="0"/>
              <a:t>Two-Year Contract (-1.457)</a:t>
            </a:r>
            <a:r>
              <a:rPr lang="en-US" sz="1400" dirty="0"/>
              <a:t> and long cumulative customer </a:t>
            </a:r>
            <a:r>
              <a:rPr lang="en-US" sz="1400" b="1" dirty="0"/>
              <a:t>tenure (-1.075)</a:t>
            </a:r>
            <a:r>
              <a:rPr lang="en-US" sz="1400" dirty="0"/>
              <a:t> strongly secure revenue and keep subscribers in place.</a:t>
            </a:r>
          </a:p>
          <a:p>
            <a:pPr lvl="1"/>
            <a:r>
              <a:rPr lang="en-US" sz="1400" b="1" dirty="0"/>
              <a:t>The Contract Masking Effect:</a:t>
            </a:r>
            <a:r>
              <a:rPr lang="en-US" sz="1400" dirty="0"/>
              <a:t> High continuous monthly charges display a large negative value weight (</a:t>
            </a:r>
            <a:r>
              <a:rPr lang="en-US" sz="1400" b="1" dirty="0"/>
              <a:t>-2.406</a:t>
            </a:r>
            <a:r>
              <a:rPr lang="en-US" sz="1400" dirty="0"/>
              <a:t>). This reveals an interaction effect: when high-spending accounts are secured by two-year agreements, their high spend actually acts as a loyalty anchor rather than a risk factor. </a:t>
            </a:r>
            <a:endParaRPr lang="en-US" sz="1400" b="0" u="none" strike="noStrike" dirty="0">
              <a:effectLst/>
              <a:latin typeface="Google Sans"/>
            </a:endParaRPr>
          </a:p>
          <a:p>
            <a:pPr lvl="1"/>
            <a:endParaRPr lang="en-US" sz="1400" b="1" dirty="0">
              <a:latin typeface="Trebuchet MS (Body)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400" dirty="0">
              <a:latin typeface="Trebuchet MS (Body)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BC100E-1FD0-EF17-3376-6ED660A2B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4" y="2496953"/>
            <a:ext cx="4800164" cy="31659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5266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" name="Rectangle 205">
            <a:extLst>
              <a:ext uri="{FF2B5EF4-FFF2-40B4-BE49-F238E27FC236}">
                <a16:creationId xmlns:a16="http://schemas.microsoft.com/office/drawing/2014/main" id="{531A7071-A1E3-4ABD-9E3C-984F3F9D1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ands holding each other's wrists and interlinked to form a circle">
            <a:extLst>
              <a:ext uri="{FF2B5EF4-FFF2-40B4-BE49-F238E27FC236}">
                <a16:creationId xmlns:a16="http://schemas.microsoft.com/office/drawing/2014/main" id="{0B38E059-EF60-D71F-0D72-D8CDD0E8DDC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15000"/>
          </a:blip>
          <a:srcRect b="15730"/>
          <a:stretch>
            <a:fillRect/>
          </a:stretch>
        </p:blipFill>
        <p:spPr>
          <a:xfrm>
            <a:off x="-3175" y="-18520"/>
            <a:ext cx="12191999" cy="6858000"/>
          </a:xfrm>
          <a:prstGeom prst="rect">
            <a:avLst/>
          </a:prstGeom>
        </p:spPr>
      </p:pic>
      <p:grpSp>
        <p:nvGrpSpPr>
          <p:cNvPr id="208" name="Group 207">
            <a:extLst>
              <a:ext uri="{FF2B5EF4-FFF2-40B4-BE49-F238E27FC236}">
                <a16:creationId xmlns:a16="http://schemas.microsoft.com/office/drawing/2014/main" id="{D7450C65-F562-4A93-8E4C-2B1A1D6D1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AF0563B9-ECBE-4965-97D7-9882F6A74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D7E91126-5A58-4664-9FA6-5EC835C635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Rectangle 23">
              <a:extLst>
                <a:ext uri="{FF2B5EF4-FFF2-40B4-BE49-F238E27FC236}">
                  <a16:creationId xmlns:a16="http://schemas.microsoft.com/office/drawing/2014/main" id="{EF18AD9C-F20A-40DA-85EC-AE24CBA4CA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2" name="Rectangle 25">
              <a:extLst>
                <a:ext uri="{FF2B5EF4-FFF2-40B4-BE49-F238E27FC236}">
                  <a16:creationId xmlns:a16="http://schemas.microsoft.com/office/drawing/2014/main" id="{5ED32872-350A-42F9-BACB-7E8FFE557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3" name="Isosceles Triangle 212">
              <a:extLst>
                <a:ext uri="{FF2B5EF4-FFF2-40B4-BE49-F238E27FC236}">
                  <a16:creationId xmlns:a16="http://schemas.microsoft.com/office/drawing/2014/main" id="{C409006C-800B-4ECA-9974-89CBD04989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4" name="Rectangle 27">
              <a:extLst>
                <a:ext uri="{FF2B5EF4-FFF2-40B4-BE49-F238E27FC236}">
                  <a16:creationId xmlns:a16="http://schemas.microsoft.com/office/drawing/2014/main" id="{AA88B005-7B82-4ACE-B3D5-1BAD7E2A5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5" name="Rectangle 28">
              <a:extLst>
                <a:ext uri="{FF2B5EF4-FFF2-40B4-BE49-F238E27FC236}">
                  <a16:creationId xmlns:a16="http://schemas.microsoft.com/office/drawing/2014/main" id="{DC68DADB-A002-4B49-8932-F71D25B3FB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6" name="Rectangle 29">
              <a:extLst>
                <a:ext uri="{FF2B5EF4-FFF2-40B4-BE49-F238E27FC236}">
                  <a16:creationId xmlns:a16="http://schemas.microsoft.com/office/drawing/2014/main" id="{63238F89-5D1B-4101-8493-5A72E178B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7" name="Isosceles Triangle 216">
              <a:extLst>
                <a:ext uri="{FF2B5EF4-FFF2-40B4-BE49-F238E27FC236}">
                  <a16:creationId xmlns:a16="http://schemas.microsoft.com/office/drawing/2014/main" id="{D4094520-ACA0-47DD-8EB5-084BD92E8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8" name="Isosceles Triangle 217">
              <a:extLst>
                <a:ext uri="{FF2B5EF4-FFF2-40B4-BE49-F238E27FC236}">
                  <a16:creationId xmlns:a16="http://schemas.microsoft.com/office/drawing/2014/main" id="{29E6287E-AD72-4AD3-981F-086045BCA5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277B03-303D-6623-DC4B-A3308DCF4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407761" cy="109086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Scenario Simulation &amp; Financial ROI</a:t>
            </a:r>
            <a:br>
              <a:rPr lang="en-US" b="1" dirty="0"/>
            </a:br>
            <a:r>
              <a:rPr lang="en-US" sz="2000" b="1" dirty="0"/>
              <a:t>(Evaluating Capital Expenditures to Stabilize Local Customer Risk)</a:t>
            </a:r>
            <a:br>
              <a:rPr lang="en-US" sz="2700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EBC74-908A-76A7-70B8-B2901DFB6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251" y="1609344"/>
            <a:ext cx="6008449" cy="463905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400" dirty="0"/>
              <a:t>📌 </a:t>
            </a:r>
            <a:r>
              <a:rPr lang="en-US" sz="1400" b="1" dirty="0"/>
              <a:t>Key Insights:</a:t>
            </a:r>
            <a:endParaRPr lang="en-US" sz="1400" b="1" u="none" strike="noStrike" dirty="0">
              <a:effectLst/>
              <a:latin typeface="Google Sans"/>
            </a:endParaRPr>
          </a:p>
          <a:p>
            <a:pPr lvl="1"/>
            <a:r>
              <a:rPr lang="en-US" sz="1400" b="1" dirty="0"/>
              <a:t>The "What-If" Scenario:</a:t>
            </a:r>
            <a:r>
              <a:rPr lang="en-US" sz="1400" dirty="0"/>
              <a:t> Simulated a localized field repair strategy inside our highest-risk network corridor: </a:t>
            </a:r>
            <a:r>
              <a:rPr lang="en-US" sz="1400" b="1" dirty="0"/>
              <a:t>ZIP Code 98104</a:t>
            </a:r>
            <a:r>
              <a:rPr lang="en-US" sz="1400" dirty="0"/>
              <a:t>. The model tested the impact of raising the local signal stability index from a failing 0.45 up to an optimal 0.80.</a:t>
            </a:r>
          </a:p>
          <a:p>
            <a:pPr lvl="1"/>
            <a:r>
              <a:rPr lang="en-US" sz="1400" b="1" dirty="0"/>
              <a:t>The Modest Financial Return:</a:t>
            </a:r>
            <a:r>
              <a:rPr lang="en-US" sz="1400" dirty="0"/>
              <a:t> Improving the network signal drops the regional customer risk from </a:t>
            </a:r>
            <a:r>
              <a:rPr lang="en-US" sz="1400" b="1" dirty="0"/>
              <a:t>22.50% down to 22.12%</a:t>
            </a:r>
            <a:r>
              <a:rPr lang="en-US" sz="1400" dirty="0"/>
              <a:t>. This yields a positive but very modest </a:t>
            </a:r>
            <a:r>
              <a:rPr lang="en-US" sz="1400" b="1" dirty="0"/>
              <a:t>1.69% relative risk reduction</a:t>
            </a:r>
            <a:r>
              <a:rPr lang="en-US" sz="1400" dirty="0"/>
              <a:t>.</a:t>
            </a:r>
          </a:p>
          <a:p>
            <a:pPr lvl="1"/>
            <a:r>
              <a:rPr lang="en-US" sz="1400" b="1" dirty="0"/>
              <a:t>Confirming the Secondary Trigger:</a:t>
            </a:r>
            <a:r>
              <a:rPr lang="en-US" sz="1400" dirty="0"/>
              <a:t> This modest 1.69% reduction confirms our data analysis: </a:t>
            </a:r>
            <a:r>
              <a:rPr lang="en-US" sz="1400" b="1" dirty="0"/>
              <a:t>signal quality alone is not the primary cause of customer cancellation</a:t>
            </a:r>
            <a:r>
              <a:rPr lang="en-US" sz="1400" dirty="0"/>
              <a:t>. It acts as a secondary trigger rather than a standalone driver.</a:t>
            </a:r>
          </a:p>
          <a:p>
            <a:pPr lvl="1"/>
            <a:r>
              <a:rPr lang="en-US" sz="1400" b="1" dirty="0"/>
              <a:t>The Structural Connection:</a:t>
            </a:r>
            <a:r>
              <a:rPr lang="en-US" sz="1400" dirty="0"/>
              <a:t> Why prioritize signal fixes if fiber optic plans are our top risk? </a:t>
            </a:r>
            <a:r>
              <a:rPr lang="en-US" sz="1400" b="1" dirty="0"/>
              <a:t>Because fiber subscribers in low-signal zones represent the highest-risk intersection in our model. Stabilizing the signal in these fiber-heavy trouble zones directly defuses our most dangerous revenue risk vector.</a:t>
            </a:r>
            <a:endParaRPr lang="en-US" sz="1400" dirty="0"/>
          </a:p>
          <a:p>
            <a:pPr marL="0" indent="0">
              <a:lnSpc>
                <a:spcPct val="90000"/>
              </a:lnSpc>
              <a:buNone/>
            </a:pPr>
            <a:endParaRPr lang="en-US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E072ED-C28D-A5D8-5E7D-5D06AB9EA3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978" y="2242330"/>
            <a:ext cx="4798695" cy="35133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0334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2C4013-66E8-ADB9-8F30-FDBEC9AC3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" name="Rectangle 205">
            <a:extLst>
              <a:ext uri="{FF2B5EF4-FFF2-40B4-BE49-F238E27FC236}">
                <a16:creationId xmlns:a16="http://schemas.microsoft.com/office/drawing/2014/main" id="{DAEBC5C7-1D90-6CEF-1B86-88ECA4431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ands holding each other's wrists and interlinked to form a circle">
            <a:extLst>
              <a:ext uri="{FF2B5EF4-FFF2-40B4-BE49-F238E27FC236}">
                <a16:creationId xmlns:a16="http://schemas.microsoft.com/office/drawing/2014/main" id="{AA44D011-FA2F-C537-7C55-8F22041C89E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alphaModFix amt="15000"/>
          </a:blip>
          <a:srcRect b="15730"/>
          <a:stretch>
            <a:fillRect/>
          </a:stretch>
        </p:blipFill>
        <p:spPr>
          <a:xfrm>
            <a:off x="-3175" y="-18520"/>
            <a:ext cx="12191999" cy="6858000"/>
          </a:xfrm>
          <a:prstGeom prst="rect">
            <a:avLst/>
          </a:prstGeom>
        </p:spPr>
      </p:pic>
      <p:grpSp>
        <p:nvGrpSpPr>
          <p:cNvPr id="208" name="Group 207">
            <a:extLst>
              <a:ext uri="{FF2B5EF4-FFF2-40B4-BE49-F238E27FC236}">
                <a16:creationId xmlns:a16="http://schemas.microsoft.com/office/drawing/2014/main" id="{7FF01F33-20F2-4F39-7ED5-42A3037A9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234291C4-E054-0E2D-4180-94B9974702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06663ED6-F218-234D-F012-151B0FE29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Rectangle 23">
              <a:extLst>
                <a:ext uri="{FF2B5EF4-FFF2-40B4-BE49-F238E27FC236}">
                  <a16:creationId xmlns:a16="http://schemas.microsoft.com/office/drawing/2014/main" id="{F8A5D8AD-0324-B4B1-8477-78A6090C35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2" name="Rectangle 25">
              <a:extLst>
                <a:ext uri="{FF2B5EF4-FFF2-40B4-BE49-F238E27FC236}">
                  <a16:creationId xmlns:a16="http://schemas.microsoft.com/office/drawing/2014/main" id="{44680D74-4D28-1CD5-5753-37F794F603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3" name="Isosceles Triangle 212">
              <a:extLst>
                <a:ext uri="{FF2B5EF4-FFF2-40B4-BE49-F238E27FC236}">
                  <a16:creationId xmlns:a16="http://schemas.microsoft.com/office/drawing/2014/main" id="{401D0D0F-CD59-3A91-E768-BBE7999CE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4" name="Rectangle 27">
              <a:extLst>
                <a:ext uri="{FF2B5EF4-FFF2-40B4-BE49-F238E27FC236}">
                  <a16:creationId xmlns:a16="http://schemas.microsoft.com/office/drawing/2014/main" id="{09C91051-42CB-CA0E-AEDC-D9D7F98BBC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5" name="Rectangle 28">
              <a:extLst>
                <a:ext uri="{FF2B5EF4-FFF2-40B4-BE49-F238E27FC236}">
                  <a16:creationId xmlns:a16="http://schemas.microsoft.com/office/drawing/2014/main" id="{2F389B8D-5422-5257-74DB-D569659BC4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6" name="Rectangle 29">
              <a:extLst>
                <a:ext uri="{FF2B5EF4-FFF2-40B4-BE49-F238E27FC236}">
                  <a16:creationId xmlns:a16="http://schemas.microsoft.com/office/drawing/2014/main" id="{8A89B727-067A-0642-7A14-990755D98E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7" name="Isosceles Triangle 216">
              <a:extLst>
                <a:ext uri="{FF2B5EF4-FFF2-40B4-BE49-F238E27FC236}">
                  <a16:creationId xmlns:a16="http://schemas.microsoft.com/office/drawing/2014/main" id="{89004F9E-8AF1-63F6-F669-189C1CCE33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8" name="Isosceles Triangle 217">
              <a:extLst>
                <a:ext uri="{FF2B5EF4-FFF2-40B4-BE49-F238E27FC236}">
                  <a16:creationId xmlns:a16="http://schemas.microsoft.com/office/drawing/2014/main" id="{18C5B4C0-4040-EECB-678E-8BFAB0B06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4D6DE53-2532-EEBE-2DBA-C3AC89676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070877" cy="96012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Strategic Roadmap &amp; Conclusion</a:t>
            </a:r>
            <a:br>
              <a:rPr lang="en-US" b="1" dirty="0"/>
            </a:br>
            <a:r>
              <a:rPr lang="en-US" sz="2000" b="1" dirty="0"/>
              <a:t>(Shifting from Costly Discounting to Target Network Actions)</a:t>
            </a: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39FD5-53DE-B8CC-E762-0E2078731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7251" y="1655064"/>
            <a:ext cx="9611239" cy="449536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endParaRPr lang="en-US" b="1" u="none" strike="noStrike" dirty="0">
              <a:effectLst/>
              <a:latin typeface="Google Sans"/>
            </a:endParaRPr>
          </a:p>
          <a:p>
            <a:r>
              <a:rPr lang="en-US" b="1" dirty="0"/>
              <a:t>Targeted Network Upgrades (</a:t>
            </a:r>
            <a:r>
              <a:rPr lang="en-US" b="1" dirty="0" err="1"/>
              <a:t>CapEx</a:t>
            </a:r>
            <a:r>
              <a:rPr lang="en-US" b="1" dirty="0"/>
              <a:t> Allocation):</a:t>
            </a:r>
            <a:r>
              <a:rPr lang="en-US" dirty="0"/>
              <a:t> Deploy prioritized engineering audits and fiber hardware upgrades directly inside regional trouble spots, starting with </a:t>
            </a:r>
            <a:r>
              <a:rPr lang="en-US" b="1" dirty="0"/>
              <a:t>ZIP Code 98104</a:t>
            </a:r>
            <a:r>
              <a:rPr lang="en-US" dirty="0"/>
              <a:t>. Because fiber subscribers in low-signal zones represent the highest-risk intersection in our model, stabilizing the connection here directly defuses our most dangerous customer risk vector.</a:t>
            </a:r>
          </a:p>
          <a:p>
            <a:r>
              <a:rPr lang="en-US" b="1" dirty="0"/>
              <a:t>Proactive Contract Retention (Revenue Insurance):</a:t>
            </a:r>
            <a:r>
              <a:rPr lang="en-US" dirty="0"/>
              <a:t> Proactively target high-risk, month-to-month subscribers who are paying premium rates. Offer minor loyalty incentives to secure them into formal </a:t>
            </a:r>
            <a:r>
              <a:rPr lang="en-US" b="1" dirty="0"/>
              <a:t>Two-Year Contracts</a:t>
            </a:r>
            <a:r>
              <a:rPr lang="en-US" dirty="0"/>
              <a:t>, building a legal buffer to protect immediate revenue while engineering upgrades are completed on the ground.</a:t>
            </a:r>
          </a:p>
          <a:p>
            <a:r>
              <a:rPr lang="en-US" b="1" dirty="0"/>
              <a:t>The Strategic Shift:</a:t>
            </a:r>
            <a:r>
              <a:rPr lang="en-US" dirty="0"/>
              <a:t> Reorients the company away from generic, margin-compressing discount campaigns and shifts toward an intelligent, location-based retention plan. This dual strategy balances physical network fixes with smart customer agreements to protect recurring revenue streams.</a:t>
            </a:r>
            <a:endParaRPr lang="en-US" b="0" u="none" strike="noStrike">
              <a:effectLst/>
              <a:latin typeface="Google Sans"/>
            </a:endParaRPr>
          </a:p>
          <a:p>
            <a:pPr>
              <a:lnSpc>
                <a:spcPct val="90000"/>
              </a:lnSpc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88609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384DE-EF1F-635E-CD45-4D178C212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749808"/>
            <a:ext cx="8947930" cy="3182111"/>
          </a:xfrm>
        </p:spPr>
        <p:txBody>
          <a:bodyPr anchor="ctr">
            <a:noAutofit/>
          </a:bodyPr>
          <a:lstStyle/>
          <a:p>
            <a:r>
              <a:rPr lang="en-US" sz="1400" b="1" dirty="0">
                <a:latin typeface="+mn-lt"/>
              </a:rPr>
              <a:t>Target High-Risk Intersections:</a:t>
            </a:r>
            <a:r>
              <a:rPr lang="en-US" sz="1400" dirty="0">
                <a:latin typeface="+mn-lt"/>
              </a:rPr>
              <a:t> Prioritize fiber-heavy trouble zones using our engineered indicators as an automated early-warning system before subscribers cancel.</a:t>
            </a:r>
            <a:br>
              <a:rPr lang="en-US" sz="1400" dirty="0">
                <a:latin typeface="+mn-lt"/>
              </a:rPr>
            </a:br>
            <a:br>
              <a:rPr lang="en-US" sz="1400" dirty="0">
                <a:latin typeface="+mn-lt"/>
              </a:rPr>
            </a:br>
            <a:r>
              <a:rPr lang="en-US" sz="1400" b="1" dirty="0">
                <a:latin typeface="+mn-lt"/>
              </a:rPr>
              <a:t>Stop Margin Compression:</a:t>
            </a:r>
            <a:r>
              <a:rPr lang="en-US" sz="1400" dirty="0">
                <a:latin typeface="+mn-lt"/>
              </a:rPr>
              <a:t> Protect high-value revenue corridors through proactive, localized operations instead of relying on expensive, company-wide discounts.</a:t>
            </a:r>
            <a:br>
              <a:rPr lang="en-US" sz="1400" dirty="0">
                <a:latin typeface="+mn-lt"/>
              </a:rPr>
            </a:br>
            <a:br>
              <a:rPr lang="en-US" sz="1400" dirty="0">
                <a:latin typeface="+mn-lt"/>
              </a:rPr>
            </a:br>
            <a:r>
              <a:rPr lang="en-US" sz="1400" b="1" dirty="0">
                <a:latin typeface="+mn-lt"/>
              </a:rPr>
              <a:t>Implement a Dual Strategy:</a:t>
            </a:r>
            <a:r>
              <a:rPr lang="en-US" sz="1400" dirty="0">
                <a:latin typeface="+mn-lt"/>
              </a:rPr>
              <a:t> Secure vulnerable month-to-month lines with proactive contract incentives to shield revenue while engineering crews stabilize physical network performance.</a:t>
            </a:r>
            <a:br>
              <a:rPr lang="en-US" sz="1400" dirty="0">
                <a:latin typeface="+mn-lt"/>
              </a:rPr>
            </a:br>
            <a:r>
              <a:rPr lang="en-US" sz="1400" b="1" dirty="0">
                <a:latin typeface="+mn-lt"/>
              </a:rPr>
              <a:t>Move Beyond Prediction:</a:t>
            </a:r>
            <a:r>
              <a:rPr lang="en-US" sz="1400" dirty="0">
                <a:latin typeface="+mn-lt"/>
              </a:rPr>
              <a:t> Shifting the company from simply tracking risk metrics to actively managing and resolving network and product friction at the root.</a:t>
            </a:r>
            <a:br>
              <a:rPr lang="en-US" sz="1400" dirty="0">
                <a:latin typeface="+mn-lt"/>
              </a:rPr>
            </a:br>
            <a:br>
              <a:rPr lang="en-US" sz="1400" dirty="0">
                <a:latin typeface="+mn-lt"/>
              </a:rPr>
            </a:br>
            <a:br>
              <a:rPr lang="en-US" sz="1400" dirty="0">
                <a:latin typeface="+mn-lt"/>
              </a:rPr>
            </a:br>
            <a:r>
              <a:rPr lang="en-US" sz="1400" dirty="0">
                <a:latin typeface="+mn-lt"/>
              </a:rPr>
              <a:t>“Data-driven infrastructure leads to customer-driven loyalty.”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584BD-1005-9159-831E-C07E7EB17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2169" y="3429000"/>
            <a:ext cx="4940495" cy="152624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5400" dirty="0"/>
              <a:t>Thank you!</a:t>
            </a:r>
          </a:p>
        </p:txBody>
      </p:sp>
      <p:pic>
        <p:nvPicPr>
          <p:cNvPr id="7" name="Graphic 6" descr="Business Growth">
            <a:extLst>
              <a:ext uri="{FF2B5EF4-FFF2-40B4-BE49-F238E27FC236}">
                <a16:creationId xmlns:a16="http://schemas.microsoft.com/office/drawing/2014/main" id="{28A3A65B-3F63-7406-11E8-209290C856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33766" y="4689093"/>
            <a:ext cx="1992444" cy="1992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18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15213</TotalTime>
  <Words>2134</Words>
  <Application>Microsoft Office PowerPoint</Application>
  <PresentationFormat>Widescreen</PresentationFormat>
  <Paragraphs>103</Paragraphs>
  <Slides>15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Facet</vt:lpstr>
      <vt:lpstr>Localized Telco Retention:  A Geospatial and Financial Risk Analysis (A Data-Driven Strategy Using Network Quality and Targeted Contracts to Reduce Customer Loss)</vt:lpstr>
      <vt:lpstr>Executive Summary</vt:lpstr>
      <vt:lpstr>Introduction &amp; Objectives (Using Network Quality and Financial Data to Eliminate Our Revenue Blind Spots)</vt:lpstr>
      <vt:lpstr>Hybrid Injection &amp; Engineering (Combining Location-Based Performance Data with Account Records)</vt:lpstr>
      <vt:lpstr>Exploratory Data Analysis (EDA) (The Macro Baseline)</vt:lpstr>
      <vt:lpstr>Exploratory Data Analysis (EDA) (Regional Baselines vs. Technical Signals)</vt:lpstr>
      <vt:lpstr>Exploratory Data Analysis (EDA) (Product Ecosystem &amp; Account Constraints)</vt:lpstr>
      <vt:lpstr>Exploratory Data Analysis (EDA) (Product Ecosystem – Downstream Value-Added Asset Performance)</vt:lpstr>
      <vt:lpstr>Preprocessing &amp; Model Tournament (Evaluating Options &amp; Finding Our Champion Architecture)</vt:lpstr>
      <vt:lpstr>Model Performance &amp; Decision Threshold (Setting the 0.42 Risk Threshold to Catch 85% of At-Risk Account)</vt:lpstr>
      <vt:lpstr>Operational Impact  (Confusion Matrix Volume Analysis) </vt:lpstr>
      <vt:lpstr>Key Risk Drivers &amp; Retention Anchor (Understanding What Triggers Cancellations vs. What Locks in Loyalty)</vt:lpstr>
      <vt:lpstr>Scenario Simulation &amp; Financial ROI (Evaluating Capital Expenditures to Stabilize Local Customer Risk) </vt:lpstr>
      <vt:lpstr>Strategic Roadmap &amp; Conclusion (Shifting from Costly Discounting to Target Network Actions)</vt:lpstr>
      <vt:lpstr>Target High-Risk Intersections: Prioritize fiber-heavy trouble zones using our engineered indicators as an automated early-warning system before subscribers cancel.  Stop Margin Compression: Protect high-value revenue corridors through proactive, localized operations instead of relying on expensive, company-wide discounts.  Implement a Dual Strategy: Secure vulnerable month-to-month lines with proactive contract incentives to shield revenue while engineering crews stabilize physical network performance. Move Beyond Prediction: Shifting the company from simply tracking risk metrics to actively managing and resolving network and product friction at the root.   “Data-driven infrastructure leads to customer-driven loyalty.”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ARKORFUL S. KOBINA EBO</dc:creator>
  <cp:lastModifiedBy>ARKORFUL S. KOBINA EBO</cp:lastModifiedBy>
  <cp:revision>168</cp:revision>
  <dcterms:created xsi:type="dcterms:W3CDTF">2026-04-06T22:48:33Z</dcterms:created>
  <dcterms:modified xsi:type="dcterms:W3CDTF">2026-06-01T21:28:57Z</dcterms:modified>
</cp:coreProperties>
</file>